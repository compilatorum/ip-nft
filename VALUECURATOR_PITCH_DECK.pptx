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Speaker Notes (0:00 - 0:15):</a:t>
            </a:r>
          </a:p>
          <a:p>
            <a:r>
              <a:t>"Judges and investors: we are witnessing the dawn of autonomous AI agents operating in on-chain financial markets. But giving probabilistic models raw private keys is a recipe for catastrophic bankruptcy. We built ValueCurator to establish second-order capital governance on Solana: AI advises, evidence proves, policy authorizes, and the owner governs. Here is how we turn autonomous trading into a bank-grade, mathematically bounded asset class."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Speaker Notes (0:15 - 0:35):</a:t>
            </a:r>
          </a:p>
          <a:p>
            <a:r>
              <a:t>"Every week, another autonomous crypto agent project launches and gives a neural model direct custody of a Solana private key. This is suicidal. Neural networks hallucinate by definition. When an oracle stalls or liquidity disappears, a probabilistic bot cannot stop itself. It drains the vault. Multi-sigs are too slow for automated execution, and prompt guardrails are easily bypassed. ValueCurator eliminates this existential risk by separating intelligence from authority. The agent never touches the private key."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Speaker Notes (0:35 - 0:55):</a:t>
            </a:r>
          </a:p>
          <a:p>
            <a:r>
              <a:t>"Why do we call it ValueCurator? Because in the era of superintelligent agents, humans should not be day-traders. Humans are meta-curators. You curate the immutable parameters of the system that protects your wealth. You define the allowed assets, maximum slippage, maximum allocation per trade, and oracle latency ceilings. The AI operates autonomously inside those parameters—but the moment it attempts to violate your constitutional mandate, the system locks shut. It is sovereign governance, automated."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Speaker Notes (0:55 - 1:15):</a:t>
            </a:r>
          </a:p>
          <a:p>
            <a:r>
              <a:t>"Our product is built on a neurosymbolic architecture. The neural layer generates trade signals. But before any instruction reaches Solana, our deterministic gate evaluates six mathematical conditions. We check asset whitelisting, allocation limits, Pyth oracle freshness, confidence spreads, and DEX price deviation. If all six pass, an Ed25519 cryptographic receipt is generated for that specific transaction. If any condition fails, the gate triggers fail-closed. Not a single basis point of capital can be leaked."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Speaker Notes (1:15 - 1:35):</a:t>
            </a:r>
          </a:p>
          <a:p>
            <a:r>
              <a:t>"Let's talk about the stack. We deployed our Anchor program on Solana with strict PDA account segregation. The human owner retains ultimate custody and emergency withdrawal authority at all times. The bot operates with restricted permissions, capable only of calling metabolize_yield when presenting a valid authorization receipt. Furthermore, our dual-network topology reads live Pyth Feed 922 pricing directly from Solana Mainnet, verifying real-world equity feeds without risking unhedged funds during audit phase."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Speaker Notes (1:35 - 1:55):</a:t>
            </a:r>
          </a:p>
          <a:p>
            <a:r>
              <a:t>"ValueCurator addresses five massive market segments. In B2C, we empower individuals to build programmable, self-sovereign micro-funds that cannot be frozen or inflated away. In B2B, we replace traditional, opaque hedge fund managers with auditable on-chain ETFs, eliminating the 2-and-20 fee overhead. In B2A, we become the indispensable security armor for autonomous AI agents. And in B2D, we protect billions in DAO treasuries against flash-loan governance drains. This represents a multi-billion dollar convergence."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Speaker Notes (1:55 - 2:15):</a:t>
            </a:r>
          </a:p>
          <a:p>
            <a:r>
              <a:t>"Under the hood of our Kairos research engine is a quantamental breakthrough: Physics-Informed Machine Learning on Graph Neural Networks. In crypto, technical indicators lag and fundamental reports are obsolete. We model Solana liquidity as a physical conservation manifold. By enforcing topological energy constraints into our models, our AI cannot hallucinate non-existent liquidity. It crosses microsecond price ticks with fundamental cash-flow proofs, providing unprecedented institutional risk appraisal."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Speaker Notes (2:15 - 2:30):</a:t>
            </a:r>
          </a:p>
          <a:p>
            <a:r>
              <a:t>"Our business model is pure infrastructure monetization. We do not gamble on token volatility. We charge a flat 1 USDC per node per month for personal vaults, plus an automated 10 to 25 basis point fee on metabolized yield executed through our Anchor program. With 25,000 nodes and $150M in governed assets in Year 2, ValueCurator generates nearly $1M in high-margin recurring protocol revenue with an exceptional 23x LTV to CAC ratio."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Speaker Notes (2:30 - 2:45):</a:t>
            </a:r>
          </a:p>
          <a:p>
            <a:r>
              <a:t>"We do not present pitch deck mockups. Every claim in this presentation is inspectable on-chain right now. Our Anchor program is deployed on Devnet. Our live frontend at valuecurator.xyz executes real Pyth 922 telemetry. Our Playwright test suite proves 100% end-to-end reliability across every failure mode, from stale oracle timeouts to price divergence rejection. When you back ValueCurator, you are backing verified code."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Speaker Notes (2:45 - 3:00):</a:t>
            </a:r>
          </a:p>
          <a:p>
            <a:r>
              <a:t>"Where do we sit in the competitive landscape? Unconstrained bots like Eliza have high autonomy but zero safety. Squads multi-sigs have high safety but zero automated speed. Traditional hedge funds charge extortionate 2-and-20 fees with zero real-time transparency. ValueCurator stands alone in the top-right quadrant: full autonomous execution governed by deterministic fail-closed mathematical gates. That is our defensible moat."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Speaker Notes (3:00 - 3:15):</a:t>
            </a:r>
          </a:p>
          <a:p>
            <a:r>
              <a:t>"Our roadmap is aggressive and disciplined. In Q2, we enter the Colosseum Accelerator, complete formal smart contract audits, and launch our audited Mainnet contracts. In Q3, we distribute our B2A Agent Armor SDK to AI agent developers across the ecosystem and launch our DAO treasury protection module. By Q4 2026, we aim to govern over $100M in assets across retail nest eggs, investment clubs, and autonomous agent reserves."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Speaker Notes (3:15 - 3:30):</a:t>
            </a:r>
          </a:p>
          <a:p>
            <a:r>
              <a:t>"Sandra and João combine deep Solana engineering with rigorous systems architecture. We are raising $250,000 through the Colosseum Accelerator to audit our contracts, release our Agent Armor SDK, and scale ValueCurator across the Solana ecosystem. AI will trade the future; ValueCurator guarantees that capital survives to see it. Join us in building the sovereign fiduciary layer of the agentic economy.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5943600" cy="329184"/>
          </a:xfrm>
          <a:prstGeom prst="roundRect">
            <a:avLst/>
          </a:prstGeom>
          <a:solidFill>
            <a:srgbClr val="161F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38BDF8"/>
                </a:solidFill>
              </a:defRPr>
            </a:pPr>
            <a:r>
              <a:t>🏛️ COLOSSEUM CRYPTO WORLD'S FAIR 2026 · OFFICIAL ACCELERATOR PITCH DECK</a:t>
            </a:r>
          </a:p>
        </p:txBody>
      </p:sp>
      <p:sp>
        <p:nvSpPr>
          <p:cNvPr id="4" name="TextBox 3"/>
          <p:cNvSpPr txBox="1"/>
          <p:nvPr/>
        </p:nvSpPr>
        <p:spPr>
          <a:xfrm>
            <a:off x="731520" y="749808"/>
            <a:ext cx="10728655" cy="868680"/>
          </a:xfrm>
          <a:prstGeom prst="rect">
            <a:avLst/>
          </a:prstGeom>
          <a:noFill/>
        </p:spPr>
        <p:txBody>
          <a:bodyPr wrap="square">
            <a:spAutoFit/>
          </a:bodyPr>
          <a:lstStyle/>
          <a:p>
            <a:pPr>
              <a:defRPr sz="2200" b="1">
                <a:solidFill>
                  <a:srgbClr val="F8FAFC"/>
                </a:solidFill>
              </a:defRPr>
            </a:pPr>
            <a:r>
              <a:t>🏛️ ValueCurator: Sovereign Capital Governance on Solana</a:t>
            </a:r>
          </a:p>
          <a:p>
            <a:pPr>
              <a:defRPr sz="1100">
                <a:solidFill>
                  <a:srgbClr val="94A3B8"/>
                </a:solidFill>
              </a:defRPr>
            </a:pPr>
            <a:r>
              <a:t>Second-Order Custody &amp; Neurosymbolic Agent Armor for Autonomous Financial Markets</a:t>
            </a:r>
          </a:p>
        </p:txBody>
      </p:sp>
      <p:sp>
        <p:nvSpPr>
          <p:cNvPr id="5" name="TextBox 4"/>
          <p:cNvSpPr txBox="1"/>
          <p:nvPr/>
        </p:nvSpPr>
        <p:spPr>
          <a:xfrm>
            <a:off x="731520" y="6400800"/>
            <a:ext cx="10728655" cy="320040"/>
          </a:xfrm>
          <a:prstGeom prst="rect">
            <a:avLst/>
          </a:prstGeom>
          <a:noFill/>
        </p:spPr>
        <p:txBody>
          <a:bodyPr wrap="none">
            <a:spAutoFit/>
          </a:bodyPr>
          <a:lstStyle/>
          <a:p>
            <a:pPr>
              <a:defRPr sz="850">
                <a:solidFill>
                  <a:srgbClr val="94A3B8"/>
                </a:solidFill>
              </a:defRPr>
            </a:pPr>
            <a:r>
              <a:t>🏛️ ValueCurator · Colosseum Crypto World's Fair 2026 · Program: 6owAcX...MiW5          |          SLIDE 01 / 12</a:t>
            </a:r>
          </a:p>
        </p:txBody>
      </p:sp>
      <p:sp>
        <p:nvSpPr>
          <p:cNvPr id="6" name="Rounded Rectangle 5"/>
          <p:cNvSpPr/>
          <p:nvPr/>
        </p:nvSpPr>
        <p:spPr>
          <a:xfrm>
            <a:off x="731520" y="1737360"/>
            <a:ext cx="10728655" cy="1325880"/>
          </a:xfrm>
          <a:prstGeom prst="roundRect">
            <a:avLst/>
          </a:prstGeom>
          <a:solidFill>
            <a:srgbClr val="161F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59E0B"/>
                </a:solidFill>
              </a:defRPr>
            </a:pPr>
            <a:r>
              <a:t>💎 The 30-Word Financial Thesis (What it Does to Money)</a:t>
            </a:r>
          </a:p>
          <a:p>
            <a:pPr>
              <a:defRPr sz="1350" i="1">
                <a:solidFill>
                  <a:srgbClr val="F8FAFC"/>
                </a:solidFill>
              </a:defRPr>
            </a:pPr>
            <a:r>
              <a:t>“ValueCurator transforms vulnerable on-chain capital into mathematically governed vaults: autonomous AI agents propose trades, but zero liquidity moves unless deterministic Solana gates and live Pyth oracles verify strict constitutional safety.”</a:t>
            </a:r>
          </a:p>
        </p:txBody>
      </p:sp>
      <p:sp>
        <p:nvSpPr>
          <p:cNvPr id="7" name="Rounded Rectangle 6"/>
          <p:cNvSpPr/>
          <p:nvPr/>
        </p:nvSpPr>
        <p:spPr>
          <a:xfrm>
            <a:off x="731520" y="3246120"/>
            <a:ext cx="2499055" cy="1463040"/>
          </a:xfrm>
          <a:prstGeom prst="roundRect">
            <a:avLst/>
          </a:prstGeom>
          <a:solidFill>
            <a:srgbClr val="161F3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8BDF8"/>
                </a:solidFill>
              </a:defRPr>
            </a:pPr>
            <a:r>
              <a:t>Solana Anchor PDA</a:t>
            </a:r>
          </a:p>
          <a:p>
            <a:pPr>
              <a:defRPr sz="1800" b="1">
                <a:solidFill>
                  <a:srgbClr val="38BDF8"/>
                </a:solidFill>
              </a:defRPr>
            </a:pPr>
            <a:r>
              <a:t>6owAcX...MiW5</a:t>
            </a:r>
          </a:p>
          <a:p>
            <a:pPr>
              <a:defRPr sz="900">
                <a:solidFill>
                  <a:srgbClr val="94A3B8"/>
                </a:solidFill>
              </a:defRPr>
            </a:pPr>
            <a:r>
              <a:t>Deployed &amp; Verified on Devnet</a:t>
            </a:r>
          </a:p>
        </p:txBody>
      </p:sp>
      <p:sp>
        <p:nvSpPr>
          <p:cNvPr id="8" name="Rounded Rectangle 7"/>
          <p:cNvSpPr/>
          <p:nvPr/>
        </p:nvSpPr>
        <p:spPr>
          <a:xfrm>
            <a:off x="3474720" y="3246120"/>
            <a:ext cx="2499055" cy="1463040"/>
          </a:xfrm>
          <a:prstGeom prst="roundRect">
            <a:avLst/>
          </a:prstGeom>
          <a:solidFill>
            <a:srgbClr val="161F30"/>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4D399"/>
                </a:solidFill>
              </a:defRPr>
            </a:pPr>
            <a:r>
              <a:t>Pyth Network Feed</a:t>
            </a:r>
          </a:p>
          <a:p>
            <a:pPr>
              <a:defRPr sz="1800" b="1">
                <a:solidFill>
                  <a:srgbClr val="34D399"/>
                </a:solidFill>
              </a:defRPr>
            </a:pPr>
            <a:r>
              <a:t>Feed 922</a:t>
            </a:r>
          </a:p>
          <a:p>
            <a:pPr>
              <a:defRPr sz="900">
                <a:solidFill>
                  <a:srgbClr val="94A3B8"/>
                </a:solidFill>
              </a:defRPr>
            </a:pPr>
            <a:r>
              <a:t>Live Mainnet Telemetry (&lt;1000 bps)</a:t>
            </a:r>
          </a:p>
        </p:txBody>
      </p:sp>
      <p:sp>
        <p:nvSpPr>
          <p:cNvPr id="9" name="Rounded Rectangle 8"/>
          <p:cNvSpPr/>
          <p:nvPr/>
        </p:nvSpPr>
        <p:spPr>
          <a:xfrm>
            <a:off x="6217920" y="3246120"/>
            <a:ext cx="2499055" cy="1463040"/>
          </a:xfrm>
          <a:prstGeom prst="roundRect">
            <a:avLst/>
          </a:prstGeom>
          <a:solidFill>
            <a:srgbClr val="161F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59E0B"/>
                </a:solidFill>
              </a:defRPr>
            </a:pPr>
            <a:r>
              <a:t>E2E Test Coverage</a:t>
            </a:r>
          </a:p>
          <a:p>
            <a:pPr>
              <a:defRPr sz="1800" b="1">
                <a:solidFill>
                  <a:srgbClr val="F59E0B"/>
                </a:solidFill>
              </a:defRPr>
            </a:pPr>
            <a:r>
              <a:t>100% PASS</a:t>
            </a:r>
          </a:p>
          <a:p>
            <a:pPr>
              <a:defRPr sz="900">
                <a:solidFill>
                  <a:srgbClr val="94A3B8"/>
                </a:solidFill>
              </a:defRPr>
            </a:pPr>
            <a:r>
              <a:t>24/24 Verified Playwright Steps</a:t>
            </a:r>
          </a:p>
        </p:txBody>
      </p:sp>
      <p:sp>
        <p:nvSpPr>
          <p:cNvPr id="10" name="Rounded Rectangle 9"/>
          <p:cNvSpPr/>
          <p:nvPr/>
        </p:nvSpPr>
        <p:spPr>
          <a:xfrm>
            <a:off x="8961120" y="3246120"/>
            <a:ext cx="2499055" cy="1463040"/>
          </a:xfrm>
          <a:prstGeom prst="roundRect">
            <a:avLst/>
          </a:prstGeom>
          <a:solidFill>
            <a:srgbClr val="161F30"/>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A78BFA"/>
                </a:solidFill>
              </a:defRPr>
            </a:pPr>
            <a:r>
              <a:t>Custody Model</a:t>
            </a:r>
          </a:p>
          <a:p>
            <a:pPr>
              <a:defRPr sz="1800" b="1">
                <a:solidFill>
                  <a:srgbClr val="A78BFA"/>
                </a:solidFill>
              </a:defRPr>
            </a:pPr>
            <a:r>
              <a:t>Sovereign PDA</a:t>
            </a:r>
          </a:p>
          <a:p>
            <a:pPr>
              <a:defRPr sz="900">
                <a:solidFill>
                  <a:srgbClr val="94A3B8"/>
                </a:solidFill>
              </a:defRPr>
            </a:pPr>
            <a:r>
              <a:t>Zero Private Key Exposure to Bots</a:t>
            </a:r>
          </a:p>
        </p:txBody>
      </p:sp>
      <p:sp>
        <p:nvSpPr>
          <p:cNvPr id="11" name="Rounded Rectangle 10"/>
          <p:cNvSpPr/>
          <p:nvPr/>
        </p:nvSpPr>
        <p:spPr>
          <a:xfrm>
            <a:off x="731520" y="4892040"/>
            <a:ext cx="10728655" cy="1234440"/>
          </a:xfrm>
          <a:prstGeom prst="roundRect">
            <a:avLst/>
          </a:prstGeom>
          <a:solidFill>
            <a:srgbClr val="161F3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8BDF8"/>
                </a:solidFill>
              </a:defRPr>
            </a:pPr>
            <a:r>
              <a:t>🌟 Sovereign Fiduciary Axiom &amp; Founding Team</a:t>
            </a:r>
          </a:p>
          <a:p>
            <a:pPr>
              <a:defRPr sz="1300" b="1">
                <a:solidFill>
                  <a:srgbClr val="F59E0B"/>
                </a:solidFill>
              </a:defRPr>
            </a:pPr>
            <a:r>
              <a:t>“AI advises. Evidence proves. Policy authorizes. The owner governs.”</a:t>
            </a:r>
          </a:p>
          <a:p>
            <a:pPr>
              <a:defRPr sz="1000">
                <a:solidFill>
                  <a:srgbClr val="F8FAFC"/>
                </a:solidFill>
              </a:defRPr>
            </a:pPr>
            <a:r>
              <a:t>Founders: Sandra Pereira (Lead Solana Systems Engineer) &amp; João Nitsche (Epistemic Systems Architect)  |  Web: www.valuecurator.xyz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5943600" cy="329184"/>
          </a:xfrm>
          <a:prstGeom prst="roundRect">
            <a:avLst/>
          </a:prstGeom>
          <a:solidFill>
            <a:srgbClr val="161F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38BDF8"/>
                </a:solidFill>
              </a:defRPr>
            </a:pPr>
            <a:r>
              <a:t>🚨 THE EXISTENTIAL VULNERABILITY · PROBABILISTIC AI IN CAPITAL MARKETS</a:t>
            </a:r>
          </a:p>
        </p:txBody>
      </p:sp>
      <p:sp>
        <p:nvSpPr>
          <p:cNvPr id="4" name="TextBox 3"/>
          <p:cNvSpPr txBox="1"/>
          <p:nvPr/>
        </p:nvSpPr>
        <p:spPr>
          <a:xfrm>
            <a:off x="731520" y="749808"/>
            <a:ext cx="10728655" cy="868680"/>
          </a:xfrm>
          <a:prstGeom prst="rect">
            <a:avLst/>
          </a:prstGeom>
          <a:noFill/>
        </p:spPr>
        <p:txBody>
          <a:bodyPr wrap="square">
            <a:spAutoFit/>
          </a:bodyPr>
          <a:lstStyle/>
          <a:p>
            <a:pPr>
              <a:defRPr sz="2200" b="1">
                <a:solidFill>
                  <a:srgbClr val="F8FAFC"/>
                </a:solidFill>
              </a:defRPr>
            </a:pPr>
            <a:r>
              <a:t>💥 The Raw Private Key Trap: Probabilistic AI = Existential Ruin</a:t>
            </a:r>
          </a:p>
          <a:p>
            <a:pPr>
              <a:defRPr sz="1100">
                <a:solidFill>
                  <a:srgbClr val="94A3B8"/>
                </a:solidFill>
              </a:defRPr>
            </a:pPr>
            <a:r>
              <a:t>Why autonomous agents holding raw wallet keys mathematically guarantee bankruptcy under market shocks</a:t>
            </a:r>
          </a:p>
        </p:txBody>
      </p:sp>
      <p:sp>
        <p:nvSpPr>
          <p:cNvPr id="5" name="TextBox 4"/>
          <p:cNvSpPr txBox="1"/>
          <p:nvPr/>
        </p:nvSpPr>
        <p:spPr>
          <a:xfrm>
            <a:off x="731520" y="6400800"/>
            <a:ext cx="10728655" cy="320040"/>
          </a:xfrm>
          <a:prstGeom prst="rect">
            <a:avLst/>
          </a:prstGeom>
          <a:noFill/>
        </p:spPr>
        <p:txBody>
          <a:bodyPr wrap="none">
            <a:spAutoFit/>
          </a:bodyPr>
          <a:lstStyle/>
          <a:p>
            <a:pPr>
              <a:defRPr sz="850">
                <a:solidFill>
                  <a:srgbClr val="94A3B8"/>
                </a:solidFill>
              </a:defRPr>
            </a:pPr>
            <a:r>
              <a:t>🏛️ ValueCurator · Colosseum Crypto World's Fair 2026 · Program: 6owAcX...MiW5          |          SLIDE 02 / 12</a:t>
            </a:r>
          </a:p>
        </p:txBody>
      </p:sp>
      <p:sp>
        <p:nvSpPr>
          <p:cNvPr id="6" name="Rounded Rectangle 5"/>
          <p:cNvSpPr/>
          <p:nvPr/>
        </p:nvSpPr>
        <p:spPr>
          <a:xfrm>
            <a:off x="731520" y="1737360"/>
            <a:ext cx="3429000" cy="4389120"/>
          </a:xfrm>
          <a:prstGeom prst="roundRect">
            <a:avLst/>
          </a:prstGeom>
          <a:solidFill>
            <a:srgbClr val="161F30"/>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87171"/>
                </a:solidFill>
              </a:defRPr>
            </a:pPr>
            <a:r>
              <a:t>🌪️ The Stochastic Hallucination Flaw</a:t>
            </a:r>
          </a:p>
          <a:p>
            <a:pPr>
              <a:defRPr sz="1100">
                <a:solidFill>
                  <a:srgbClr val="F8FAFC"/>
                </a:solidFill>
              </a:defRPr>
            </a:pPr>
            <a:r>
              <a:t>• Large Language Models &amp; neural nets are fundamentally probabilistic pattern matchers.</a:t>
            </a:r>
          </a:p>
          <a:p>
            <a:pPr>
              <a:defRPr sz="1100">
                <a:solidFill>
                  <a:srgbClr val="94A3B8"/>
                </a:solidFill>
              </a:defRPr>
            </a:pPr>
            <a:r>
              <a:t>• When market liquidity dries up or oracles diverge, unconstrained bots hallucinate trades, draining vaults in milliseconds.</a:t>
            </a:r>
          </a:p>
          <a:p>
            <a:pPr>
              <a:defRPr sz="1100" b="1">
                <a:solidFill>
                  <a:srgbClr val="F87171"/>
                </a:solidFill>
              </a:defRPr>
            </a:pPr>
            <a:r>
              <a:t>• Mathematical Certainty of Ruin: lim_{t→∞} ℙ_ruin(t) = 1 whenever error rates are unbounded.</a:t>
            </a:r>
          </a:p>
        </p:txBody>
      </p:sp>
      <p:sp>
        <p:nvSpPr>
          <p:cNvPr id="7" name="Rounded Rectangle 6"/>
          <p:cNvSpPr/>
          <p:nvPr/>
        </p:nvSpPr>
        <p:spPr>
          <a:xfrm>
            <a:off x="4379976" y="1737360"/>
            <a:ext cx="3429000" cy="4389120"/>
          </a:xfrm>
          <a:prstGeom prst="roundRect">
            <a:avLst/>
          </a:prstGeom>
          <a:solidFill>
            <a:srgbClr val="161F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59E0B"/>
                </a:solidFill>
              </a:defRPr>
            </a:pPr>
            <a:r>
              <a:t>❌ Why Existing Guardrails Fail</a:t>
            </a:r>
          </a:p>
          <a:p>
            <a:pPr>
              <a:defRPr sz="1100">
                <a:solidFill>
                  <a:srgbClr val="F8FAFC"/>
                </a:solidFill>
              </a:defRPr>
            </a:pPr>
            <a:r>
              <a:t>• Squads Multi-sigs: Require manual human approval for every trade. Impossible for high-speed algorithmic execution.</a:t>
            </a:r>
          </a:p>
          <a:p>
            <a:pPr>
              <a:defRPr sz="1100">
                <a:solidFill>
                  <a:srgbClr val="94A3B8"/>
                </a:solidFill>
              </a:defRPr>
            </a:pPr>
            <a:r>
              <a:t>• Prompt Engineering / JSON Rules: Models ignore natural language rules under jailbreaks and market anomalies.</a:t>
            </a:r>
          </a:p>
          <a:p>
            <a:pPr>
              <a:defRPr sz="1100">
                <a:solidFill>
                  <a:srgbClr val="F8FAFC"/>
                </a:solidFill>
              </a:defRPr>
            </a:pPr>
            <a:r>
              <a:t>• Basic Spend Limits: Cannot evaluate oracle freshness, price divergence, or liquidity pool health.</a:t>
            </a:r>
          </a:p>
        </p:txBody>
      </p:sp>
      <p:sp>
        <p:nvSpPr>
          <p:cNvPr id="8" name="Rounded Rectangle 7"/>
          <p:cNvSpPr/>
          <p:nvPr/>
        </p:nvSpPr>
        <p:spPr>
          <a:xfrm>
            <a:off x="8028432" y="1737360"/>
            <a:ext cx="3429000" cy="4389120"/>
          </a:xfrm>
          <a:prstGeom prst="roundRect">
            <a:avLst/>
          </a:prstGeom>
          <a:solidFill>
            <a:srgbClr val="161F30"/>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4D399"/>
                </a:solidFill>
              </a:defRPr>
            </a:pPr>
            <a:r>
              <a:t>🛡️ The Deterministic Moat</a:t>
            </a:r>
          </a:p>
          <a:p>
            <a:pPr>
              <a:defRPr sz="1100">
                <a:solidFill>
                  <a:srgbClr val="F8FAFC"/>
                </a:solidFill>
              </a:defRPr>
            </a:pPr>
            <a:r>
              <a:t>• Separation of Authority: The AI proposes alpha; the deterministic gate authorizes; the Solana PDA executes.</a:t>
            </a:r>
          </a:p>
          <a:p>
            <a:pPr>
              <a:defRPr sz="1100">
                <a:solidFill>
                  <a:srgbClr val="38BDF8"/>
                </a:solidFill>
              </a:defRPr>
            </a:pPr>
            <a:r>
              <a:t>• Zero Key Exposure: The agent never receives private keys—only one-time Ed25519 cryptographic receipts.</a:t>
            </a:r>
          </a:p>
          <a:p>
            <a:pPr>
              <a:defRPr sz="1100" b="1">
                <a:solidFill>
                  <a:srgbClr val="34D399"/>
                </a:solidFill>
              </a:defRPr>
            </a:pPr>
            <a:r>
              <a:t>• Strictly Fail-Closed: When in doubt or oracle latency &gt; 300s, zero liquidity moves. 100% capital preserved.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5943600" cy="329184"/>
          </a:xfrm>
          <a:prstGeom prst="roundRect">
            <a:avLst/>
          </a:prstGeom>
          <a:solidFill>
            <a:srgbClr val="161F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38BDF8"/>
                </a:solidFill>
              </a:defRPr>
            </a:pPr>
            <a:r>
              <a:t>🧠 PHILOSOPHICAL GENESIS · SECOND-ORDER CYBERNETIC GOVERNANCE</a:t>
            </a:r>
          </a:p>
        </p:txBody>
      </p:sp>
      <p:sp>
        <p:nvSpPr>
          <p:cNvPr id="4" name="TextBox 3"/>
          <p:cNvSpPr txBox="1"/>
          <p:nvPr/>
        </p:nvSpPr>
        <p:spPr>
          <a:xfrm>
            <a:off x="731520" y="749808"/>
            <a:ext cx="10728655" cy="868680"/>
          </a:xfrm>
          <a:prstGeom prst="rect">
            <a:avLst/>
          </a:prstGeom>
          <a:noFill/>
        </p:spPr>
        <p:txBody>
          <a:bodyPr wrap="square">
            <a:spAutoFit/>
          </a:bodyPr>
          <a:lstStyle/>
          <a:p>
            <a:pPr>
              <a:defRPr sz="2200" b="1">
                <a:solidFill>
                  <a:srgbClr val="F8FAFC"/>
                </a:solidFill>
              </a:defRPr>
            </a:pPr>
            <a:r>
              <a:t>👑 Meta-Curation: You Govern the System That Governs Capital</a:t>
            </a:r>
          </a:p>
          <a:p>
            <a:pPr>
              <a:defRPr sz="1100">
                <a:solidFill>
                  <a:srgbClr val="94A3B8"/>
                </a:solidFill>
              </a:defRPr>
            </a:pPr>
            <a:r>
              <a:t>Why humans should not be sub-second day-traders, but constitutional sovereigns of automated wealth</a:t>
            </a:r>
          </a:p>
        </p:txBody>
      </p:sp>
      <p:sp>
        <p:nvSpPr>
          <p:cNvPr id="5" name="TextBox 4"/>
          <p:cNvSpPr txBox="1"/>
          <p:nvPr/>
        </p:nvSpPr>
        <p:spPr>
          <a:xfrm>
            <a:off x="731520" y="6400800"/>
            <a:ext cx="10728655" cy="320040"/>
          </a:xfrm>
          <a:prstGeom prst="rect">
            <a:avLst/>
          </a:prstGeom>
          <a:noFill/>
        </p:spPr>
        <p:txBody>
          <a:bodyPr wrap="none">
            <a:spAutoFit/>
          </a:bodyPr>
          <a:lstStyle/>
          <a:p>
            <a:pPr>
              <a:defRPr sz="850">
                <a:solidFill>
                  <a:srgbClr val="94A3B8"/>
                </a:solidFill>
              </a:defRPr>
            </a:pPr>
            <a:r>
              <a:t>🏛️ ValueCurator · Colosseum Crypto World's Fair 2026 · Program: 6owAcX...MiW5          |          SLIDE 03 / 12</a:t>
            </a:r>
          </a:p>
        </p:txBody>
      </p:sp>
      <p:sp>
        <p:nvSpPr>
          <p:cNvPr id="6" name="Rounded Rectangle 5"/>
          <p:cNvSpPr/>
          <p:nvPr/>
        </p:nvSpPr>
        <p:spPr>
          <a:xfrm>
            <a:off x="731520" y="1737360"/>
            <a:ext cx="5212080" cy="4389120"/>
          </a:xfrm>
          <a:prstGeom prst="roundRect">
            <a:avLst/>
          </a:prstGeom>
          <a:solidFill>
            <a:srgbClr val="161F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59E0B"/>
                </a:solidFill>
              </a:defRPr>
            </a:pPr>
            <a:r>
              <a:t>🏛️ The Meta-Curator Paradigm Shift</a:t>
            </a:r>
          </a:p>
          <a:p>
            <a:pPr>
              <a:defRPr sz="1150" b="1">
                <a:solidFill>
                  <a:srgbClr val="F59E0B"/>
                </a:solidFill>
              </a:defRPr>
            </a:pPr>
            <a:r>
              <a:t>🎨 The Curator Metaphor</a:t>
            </a:r>
          </a:p>
          <a:p>
            <a:pPr>
              <a:defRPr sz="1000">
                <a:solidFill>
                  <a:srgbClr val="F8FAFC"/>
                </a:solidFill>
              </a:defRPr>
            </a:pPr>
            <a:r>
              <a:t>In art, a curator doesn't paint every canvas; they govern what enters the exhibition. In finance, the traditional fund manager micromanages orders.</a:t>
            </a:r>
          </a:p>
          <a:p>
            <a:pPr>
              <a:defRPr sz="1150" b="1">
                <a:solidFill>
                  <a:srgbClr val="F59E0B"/>
                </a:solidFill>
              </a:defRPr>
            </a:pPr>
            <a:r>
              <a:t>🛡️ Second-Order Cybernetics</a:t>
            </a:r>
          </a:p>
          <a:p>
            <a:pPr>
              <a:defRPr sz="1000">
                <a:solidFill>
                  <a:srgbClr val="F8FAFC"/>
                </a:solidFill>
              </a:defRPr>
            </a:pPr>
            <a:r>
              <a:t>In ValueCurator, you curate the system that curates your wealth. You lock the immutable bounds of existence into on-chain mandates.</a:t>
            </a:r>
          </a:p>
          <a:p>
            <a:pPr>
              <a:defRPr sz="1150" b="1">
                <a:solidFill>
                  <a:srgbClr val="F59E0B"/>
                </a:solidFill>
              </a:defRPr>
            </a:pPr>
            <a:r>
              <a:t>⚖️ Autonomy vs. Sovereignty</a:t>
            </a:r>
          </a:p>
          <a:p>
            <a:pPr>
              <a:defRPr sz="1000">
                <a:solidFill>
                  <a:srgbClr val="F8FAFC"/>
                </a:solidFill>
              </a:defRPr>
            </a:pPr>
            <a:r>
              <a:t>Operational autonomy is the bot searching for yield. Fiduciary sovereignty is the owner retaining exclusive power over risk limits and custody.</a:t>
            </a:r>
          </a:p>
          <a:p>
            <a:pPr>
              <a:defRPr sz="1150" b="1">
                <a:solidFill>
                  <a:srgbClr val="F59E0B"/>
                </a:solidFill>
              </a:defRPr>
            </a:pPr>
            <a:r>
              <a:t>🛑 The Absent of Ruin</a:t>
            </a:r>
          </a:p>
          <a:p>
            <a:pPr>
              <a:defRPr sz="1000">
                <a:solidFill>
                  <a:srgbClr val="F8FAFC"/>
                </a:solidFill>
              </a:defRPr>
            </a:pPr>
            <a:r>
              <a:t>Surviving drawdowns is the prerequisite for compounding wealth. Meta-curation guarantees zero unhedged exposure to black swan events.</a:t>
            </a:r>
          </a:p>
        </p:txBody>
      </p:sp>
      <p:sp>
        <p:nvSpPr>
          <p:cNvPr id="7" name="Rounded Rectangle 6"/>
          <p:cNvSpPr/>
          <p:nvPr/>
        </p:nvSpPr>
        <p:spPr>
          <a:xfrm>
            <a:off x="6217920" y="1737360"/>
            <a:ext cx="5242255" cy="4389120"/>
          </a:xfrm>
          <a:prstGeom prst="roundRect">
            <a:avLst/>
          </a:prstGeom>
          <a:solidFill>
            <a:srgbClr val="161F3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8BDF8"/>
                </a:solidFill>
              </a:defRPr>
            </a:pPr>
            <a:r>
              <a:t>🔄 The 4-Step Closed Cybernetic Loop</a:t>
            </a:r>
          </a:p>
          <a:p>
            <a:pPr>
              <a:defRPr sz="1150" b="1">
                <a:solidFill>
                  <a:srgbClr val="38BDF8"/>
                </a:solidFill>
              </a:defRPr>
            </a:pPr>
            <a:r>
              <a:t>Step 1 · Sovereign Mandate Calibration</a:t>
            </a:r>
          </a:p>
          <a:p>
            <a:pPr>
              <a:defRPr sz="1000">
                <a:solidFill>
                  <a:srgbClr val="F8FAFC"/>
                </a:solidFill>
              </a:defRPr>
            </a:pPr>
            <a:r>
              <a:t>Human sets immutable rules: Max Trade = 250 USDC, Max Slippage = 2%, Max Oracle Age = 300s, Whitelisted Mints = AAPLx, USDC.</a:t>
            </a:r>
          </a:p>
          <a:p>
            <a:pPr>
              <a:defRPr sz="1150" b="1">
                <a:solidFill>
                  <a:srgbClr val="38BDF8"/>
                </a:solidFill>
              </a:defRPr>
            </a:pPr>
            <a:r>
              <a:t>Step 2 · Autonomous Alpha Proposal</a:t>
            </a:r>
          </a:p>
          <a:p>
            <a:pPr>
              <a:defRPr sz="1000">
                <a:solidFill>
                  <a:srgbClr val="F8FAFC"/>
                </a:solidFill>
              </a:defRPr>
            </a:pPr>
            <a:r>
              <a:t>AI agent (Kairos Kernel) scans markets and submits an execution intent: Swap 100 USDC for AAPLx.</a:t>
            </a:r>
          </a:p>
          <a:p>
            <a:pPr>
              <a:defRPr sz="1150" b="1">
                <a:solidFill>
                  <a:srgbClr val="38BDF8"/>
                </a:solidFill>
              </a:defRPr>
            </a:pPr>
            <a:r>
              <a:t>Step 3 · Deterministic Evidence Check</a:t>
            </a:r>
          </a:p>
          <a:p>
            <a:pPr>
              <a:defRPr sz="1000">
                <a:solidFill>
                  <a:srgbClr val="F8FAFC"/>
                </a:solidFill>
              </a:defRPr>
            </a:pPr>
            <a:r>
              <a:t>ValueCurator gate benchmarks live Pyth Feed 922 telemetry on Mainnet + Jupiter quotes across all 6 invariant constraints.</a:t>
            </a:r>
          </a:p>
          <a:p>
            <a:pPr>
              <a:defRPr sz="1150" b="1">
                <a:solidFill>
                  <a:srgbClr val="38BDF8"/>
                </a:solidFill>
              </a:defRPr>
            </a:pPr>
            <a:r>
              <a:t>Step 4 · Ed25519 Receipt or Fail-Closed</a:t>
            </a:r>
          </a:p>
          <a:p>
            <a:pPr>
              <a:defRPr sz="1000">
                <a:solidFill>
                  <a:srgbClr val="F8FAFC"/>
                </a:solidFill>
              </a:defRPr>
            </a:pPr>
            <a:r>
              <a:t>Pass: Signed receipt allows Anchor metabolize_yield.</a:t>
            </a:r>
            <a:br/>
            <a:r>
              <a:t>Fail: Gate triggers Fail-Closed lock. Zero capital moves.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5943600" cy="329184"/>
          </a:xfrm>
          <a:prstGeom prst="roundRect">
            <a:avLst/>
          </a:prstGeom>
          <a:solidFill>
            <a:srgbClr val="161F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38BDF8"/>
                </a:solidFill>
              </a:defRPr>
            </a:pPr>
            <a:r>
              <a:t>⚙️ PRODUCT ARCHITECTURE · NEURAL INTELLIGENCE + SYMBOLIC CONSTRAINTS</a:t>
            </a:r>
          </a:p>
        </p:txBody>
      </p:sp>
      <p:sp>
        <p:nvSpPr>
          <p:cNvPr id="4" name="TextBox 3"/>
          <p:cNvSpPr txBox="1"/>
          <p:nvPr/>
        </p:nvSpPr>
        <p:spPr>
          <a:xfrm>
            <a:off x="731520" y="749808"/>
            <a:ext cx="10728655" cy="868680"/>
          </a:xfrm>
          <a:prstGeom prst="rect">
            <a:avLst/>
          </a:prstGeom>
          <a:noFill/>
        </p:spPr>
        <p:txBody>
          <a:bodyPr wrap="square">
            <a:spAutoFit/>
          </a:bodyPr>
          <a:lstStyle/>
          <a:p>
            <a:pPr>
              <a:defRPr sz="2200" b="1">
                <a:solidFill>
                  <a:srgbClr val="F8FAFC"/>
                </a:solidFill>
              </a:defRPr>
            </a:pPr>
            <a:r>
              <a:t>🛡️ The Neurosymbolic Policy Gate &amp; Fail-Closed Runtime</a:t>
            </a:r>
          </a:p>
          <a:p>
            <a:pPr>
              <a:defRPr sz="1100">
                <a:solidFill>
                  <a:srgbClr val="94A3B8"/>
                </a:solidFill>
              </a:defRPr>
            </a:pPr>
            <a:r>
              <a:t>Mathematical verification engine evaluating 6 strict invariants before any transaction touches Solana liquidity</a:t>
            </a:r>
          </a:p>
        </p:txBody>
      </p:sp>
      <p:sp>
        <p:nvSpPr>
          <p:cNvPr id="5" name="TextBox 4"/>
          <p:cNvSpPr txBox="1"/>
          <p:nvPr/>
        </p:nvSpPr>
        <p:spPr>
          <a:xfrm>
            <a:off x="731520" y="6400800"/>
            <a:ext cx="10728655" cy="320040"/>
          </a:xfrm>
          <a:prstGeom prst="rect">
            <a:avLst/>
          </a:prstGeom>
          <a:noFill/>
        </p:spPr>
        <p:txBody>
          <a:bodyPr wrap="none">
            <a:spAutoFit/>
          </a:bodyPr>
          <a:lstStyle/>
          <a:p>
            <a:pPr>
              <a:defRPr sz="850">
                <a:solidFill>
                  <a:srgbClr val="94A3B8"/>
                </a:solidFill>
              </a:defRPr>
            </a:pPr>
            <a:r>
              <a:t>🏛️ ValueCurator · Colosseum Crypto World's Fair 2026 · Program: 6owAcX...MiW5          |          SLIDE 04 / 12</a:t>
            </a:r>
          </a:p>
        </p:txBody>
      </p:sp>
      <p:sp>
        <p:nvSpPr>
          <p:cNvPr id="6" name="Rounded Rectangle 5"/>
          <p:cNvSpPr/>
          <p:nvPr/>
        </p:nvSpPr>
        <p:spPr>
          <a:xfrm>
            <a:off x="731520" y="1737360"/>
            <a:ext cx="10728655" cy="1280160"/>
          </a:xfrm>
          <a:prstGeom prst="roundRect">
            <a:avLst/>
          </a:prstGeom>
          <a:solidFill>
            <a:srgbClr val="161F3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8BDF8"/>
                </a:solidFill>
              </a:defRPr>
            </a:pPr>
            <a:r>
              <a:t>🏗️ The Three-Tier Architecture</a:t>
            </a:r>
          </a:p>
          <a:p>
            <a:pPr>
              <a:defRPr sz="1050">
                <a:solidFill>
                  <a:srgbClr val="F8FAFC"/>
                </a:solidFill>
              </a:defRPr>
            </a:pPr>
            <a:r>
              <a:t>• 1. Neural Layer (Advises): Kairos Kernel &amp; Quantamental Oracles (Pattern discovery, topological alpha)</a:t>
            </a:r>
          </a:p>
          <a:p>
            <a:pPr>
              <a:defRPr sz="1050">
                <a:solidFill>
                  <a:srgbClr val="F8FAFC"/>
                </a:solidFill>
              </a:defRPr>
            </a:pPr>
            <a:r>
              <a:t>• 2. Symbolic Gate (Proves): Deterministic Policy Gate (Checks 6 invariants, signs Ed25519 receipts)</a:t>
            </a:r>
          </a:p>
          <a:p>
            <a:pPr>
              <a:defRPr sz="1050">
                <a:solidFill>
                  <a:srgbClr val="F8FAFC"/>
                </a:solidFill>
              </a:defRPr>
            </a:pPr>
            <a:r>
              <a:t>• 3. Solana PDA (Governs): Anchor Smart Contract Vaults (Segregated owner emergency withdraw &amp; operator yield)</a:t>
            </a:r>
          </a:p>
        </p:txBody>
      </p:sp>
      <p:sp>
        <p:nvSpPr>
          <p:cNvPr id="7" name="Rounded Rectangle 6"/>
          <p:cNvSpPr/>
          <p:nvPr/>
        </p:nvSpPr>
        <p:spPr>
          <a:xfrm>
            <a:off x="731520" y="3154680"/>
            <a:ext cx="3429000" cy="1325880"/>
          </a:xfrm>
          <a:prstGeom prst="roundRect">
            <a:avLst/>
          </a:prstGeom>
          <a:solidFill>
            <a:srgbClr val="161F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59E0B"/>
                </a:solidFill>
              </a:defRPr>
            </a:pPr>
            <a:r>
              <a:t>C₁: Asset Whitelist</a:t>
            </a:r>
          </a:p>
          <a:p>
            <a:pPr>
              <a:defRPr sz="950">
                <a:solidFill>
                  <a:srgbClr val="F8FAFC"/>
                </a:solidFill>
              </a:defRPr>
            </a:pPr>
            <a:r>
              <a:t>Target mint must exist in curated set (e.g. AAPLx, USDC). Unverified tokens instantly rejected.</a:t>
            </a:r>
          </a:p>
        </p:txBody>
      </p:sp>
      <p:sp>
        <p:nvSpPr>
          <p:cNvPr id="8" name="Rounded Rectangle 7"/>
          <p:cNvSpPr/>
          <p:nvPr/>
        </p:nvSpPr>
        <p:spPr>
          <a:xfrm>
            <a:off x="4379976" y="3154680"/>
            <a:ext cx="3429000" cy="1325880"/>
          </a:xfrm>
          <a:prstGeom prst="roundRect">
            <a:avLst/>
          </a:prstGeom>
          <a:solidFill>
            <a:srgbClr val="161F3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8BDF8"/>
                </a:solidFill>
              </a:defRPr>
            </a:pPr>
            <a:r>
              <a:t>C₂: Volume Ceilings</a:t>
            </a:r>
          </a:p>
          <a:p>
            <a:pPr>
              <a:defRPr sz="950">
                <a:solidFill>
                  <a:srgbClr val="F8FAFC"/>
                </a:solidFill>
              </a:defRPr>
            </a:pPr>
            <a:r>
              <a:t>Trade amount ≤ λ_trade (250 USDC) AND daily cumulative volume ≤ λ_daily (1,000 USDC).</a:t>
            </a:r>
          </a:p>
        </p:txBody>
      </p:sp>
      <p:sp>
        <p:nvSpPr>
          <p:cNvPr id="9" name="Rounded Rectangle 8"/>
          <p:cNvSpPr/>
          <p:nvPr/>
        </p:nvSpPr>
        <p:spPr>
          <a:xfrm>
            <a:off x="8028432" y="3154680"/>
            <a:ext cx="3429000" cy="1325880"/>
          </a:xfrm>
          <a:prstGeom prst="roundRect">
            <a:avLst/>
          </a:prstGeom>
          <a:solidFill>
            <a:srgbClr val="161F30"/>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4D399"/>
                </a:solidFill>
              </a:defRPr>
            </a:pPr>
            <a:r>
              <a:t>C₃: Oracle Freshness</a:t>
            </a:r>
          </a:p>
          <a:p>
            <a:pPr>
              <a:defRPr sz="950">
                <a:solidFill>
                  <a:srgbClr val="F8FAFC"/>
                </a:solidFill>
              </a:defRPr>
            </a:pPr>
            <a:r>
              <a:t>Pyth timestamp age Δt ≤ 300 seconds. Strictly Fail-Closed if oracle freezes or lags.</a:t>
            </a:r>
          </a:p>
        </p:txBody>
      </p:sp>
      <p:sp>
        <p:nvSpPr>
          <p:cNvPr id="10" name="Rounded Rectangle 9"/>
          <p:cNvSpPr/>
          <p:nvPr/>
        </p:nvSpPr>
        <p:spPr>
          <a:xfrm>
            <a:off x="731520" y="4663440"/>
            <a:ext cx="3429000" cy="1325880"/>
          </a:xfrm>
          <a:prstGeom prst="roundRect">
            <a:avLst/>
          </a:prstGeom>
          <a:solidFill>
            <a:srgbClr val="161F30"/>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A78BFA"/>
                </a:solidFill>
              </a:defRPr>
            </a:pPr>
            <a:r>
              <a:t>C₄: Statistical Confidence</a:t>
            </a:r>
          </a:p>
          <a:p>
            <a:pPr>
              <a:defRPr sz="950">
                <a:solidFill>
                  <a:srgbClr val="F8FAFC"/>
                </a:solidFill>
              </a:defRPr>
            </a:pPr>
            <a:r>
              <a:t>Pyth price confidence spread (σ_pyth / p_pyth) ≤ 1,000 bps (10.0% max spread).</a:t>
            </a:r>
          </a:p>
        </p:txBody>
      </p:sp>
      <p:sp>
        <p:nvSpPr>
          <p:cNvPr id="11" name="Rounded Rectangle 10"/>
          <p:cNvSpPr/>
          <p:nvPr/>
        </p:nvSpPr>
        <p:spPr>
          <a:xfrm>
            <a:off x="4379976" y="4663440"/>
            <a:ext cx="3429000" cy="1325880"/>
          </a:xfrm>
          <a:prstGeom prst="roundRect">
            <a:avLst/>
          </a:prstGeom>
          <a:solidFill>
            <a:srgbClr val="161F30"/>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87171"/>
                </a:solidFill>
              </a:defRPr>
            </a:pPr>
            <a:r>
              <a:t>C₅: Cross-Venue Alignment</a:t>
            </a:r>
          </a:p>
          <a:p>
            <a:pPr>
              <a:defRPr sz="950">
                <a:solidFill>
                  <a:srgbClr val="F8FAFC"/>
                </a:solidFill>
              </a:defRPr>
            </a:pPr>
            <a:r>
              <a:t>Implied DEX swap price must align with Pyth Feed 922 within Δ_dev ≤ 2,000 bps (20.0%).</a:t>
            </a:r>
          </a:p>
        </p:txBody>
      </p:sp>
      <p:sp>
        <p:nvSpPr>
          <p:cNvPr id="12" name="Rounded Rectangle 11"/>
          <p:cNvSpPr/>
          <p:nvPr/>
        </p:nvSpPr>
        <p:spPr>
          <a:xfrm>
            <a:off x="8028432" y="4663440"/>
            <a:ext cx="3429000" cy="1325880"/>
          </a:xfrm>
          <a:prstGeom prst="roundRect">
            <a:avLst/>
          </a:prstGeom>
          <a:solidFill>
            <a:srgbClr val="161F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59E0B"/>
                </a:solidFill>
              </a:defRPr>
            </a:pPr>
            <a:r>
              <a:t>C₆: Slippage &amp; Depth</a:t>
            </a:r>
          </a:p>
          <a:p>
            <a:pPr>
              <a:defRPr sz="950">
                <a:solidFill>
                  <a:srgbClr val="F8FAFC"/>
                </a:solidFill>
              </a:defRPr>
            </a:pPr>
            <a:r>
              <a:t>Liquidity depth impact must not exceed curated threshold S_slip ≤ 1,000 bps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5943600" cy="329184"/>
          </a:xfrm>
          <a:prstGeom prst="roundRect">
            <a:avLst/>
          </a:prstGeom>
          <a:solidFill>
            <a:srgbClr val="161F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38BDF8"/>
                </a:solidFill>
              </a:defRPr>
            </a:pPr>
            <a:r>
              <a:t>⚡ ON-CHAIN REALITY · ANCHOR CONTRACT &amp; DUAL NETWORK TOPOLOGY</a:t>
            </a:r>
          </a:p>
        </p:txBody>
      </p:sp>
      <p:sp>
        <p:nvSpPr>
          <p:cNvPr id="4" name="TextBox 3"/>
          <p:cNvSpPr txBox="1"/>
          <p:nvPr/>
        </p:nvSpPr>
        <p:spPr>
          <a:xfrm>
            <a:off x="731520" y="749808"/>
            <a:ext cx="10728655" cy="868680"/>
          </a:xfrm>
          <a:prstGeom prst="rect">
            <a:avLst/>
          </a:prstGeom>
          <a:noFill/>
        </p:spPr>
        <p:txBody>
          <a:bodyPr wrap="square">
            <a:spAutoFit/>
          </a:bodyPr>
          <a:lstStyle/>
          <a:p>
            <a:pPr>
              <a:defRPr sz="2200" b="1">
                <a:solidFill>
                  <a:srgbClr val="F8FAFC"/>
                </a:solidFill>
              </a:defRPr>
            </a:pPr>
            <a:r>
              <a:t>🏦 Solana Anchor PDA Vaults &amp; Real-Time Pyth 922 Telemetry</a:t>
            </a:r>
          </a:p>
          <a:p>
            <a:pPr>
              <a:defRPr sz="1100">
                <a:solidFill>
                  <a:srgbClr val="94A3B8"/>
                </a:solidFill>
              </a:defRPr>
            </a:pPr>
            <a:r>
              <a:t>Live smart contracts deployed on Devnet reading real-world mainnet price feeds without speculative risk</a:t>
            </a:r>
          </a:p>
        </p:txBody>
      </p:sp>
      <p:sp>
        <p:nvSpPr>
          <p:cNvPr id="5" name="TextBox 4"/>
          <p:cNvSpPr txBox="1"/>
          <p:nvPr/>
        </p:nvSpPr>
        <p:spPr>
          <a:xfrm>
            <a:off x="731520" y="6400800"/>
            <a:ext cx="10728655" cy="320040"/>
          </a:xfrm>
          <a:prstGeom prst="rect">
            <a:avLst/>
          </a:prstGeom>
          <a:noFill/>
        </p:spPr>
        <p:txBody>
          <a:bodyPr wrap="none">
            <a:spAutoFit/>
          </a:bodyPr>
          <a:lstStyle/>
          <a:p>
            <a:pPr>
              <a:defRPr sz="850">
                <a:solidFill>
                  <a:srgbClr val="94A3B8"/>
                </a:solidFill>
              </a:defRPr>
            </a:pPr>
            <a:r>
              <a:t>🏛️ ValueCurator · Colosseum Crypto World's Fair 2026 · Program: 6owAcX...MiW5          |          SLIDE 05 / 12</a:t>
            </a:r>
          </a:p>
        </p:txBody>
      </p:sp>
      <p:sp>
        <p:nvSpPr>
          <p:cNvPr id="6" name="Rounded Rectangle 5"/>
          <p:cNvSpPr/>
          <p:nvPr/>
        </p:nvSpPr>
        <p:spPr>
          <a:xfrm>
            <a:off x="731520" y="1737360"/>
            <a:ext cx="5212080" cy="4389120"/>
          </a:xfrm>
          <a:prstGeom prst="roundRect">
            <a:avLst/>
          </a:prstGeom>
          <a:solidFill>
            <a:srgbClr val="161F30"/>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4D399"/>
                </a:solidFill>
              </a:defRPr>
            </a:pPr>
            <a:r>
              <a:t>🦀 Anchor Smart Contract &amp; PDA Isolation</a:t>
            </a:r>
          </a:p>
          <a:p>
            <a:pPr>
              <a:defRPr sz="1100" b="1">
                <a:solidFill>
                  <a:srgbClr val="34D399"/>
                </a:solidFill>
              </a:defRPr>
            </a:pPr>
            <a:r>
              <a:t>Program ID (Solana Devnet)</a:t>
            </a:r>
          </a:p>
          <a:p>
            <a:pPr>
              <a:defRPr sz="950">
                <a:solidFill>
                  <a:srgbClr val="38BDF8"/>
                </a:solidFill>
              </a:defRPr>
            </a:pPr>
            <a:r>
              <a:t>6owAcXQjGg6d5p1n2D5gK8mKkG9uH9sE1kL2mP3rMiW5</a:t>
            </a:r>
          </a:p>
          <a:p>
            <a:pPr>
              <a:defRPr sz="1100" b="1">
                <a:solidFill>
                  <a:srgbClr val="34D399"/>
                </a:solidFill>
              </a:defRPr>
            </a:pPr>
            <a:r>
              <a:t>PDA Vault Derivation</a:t>
            </a:r>
          </a:p>
          <a:p>
            <a:pPr>
              <a:defRPr sz="950">
                <a:solidFill>
                  <a:srgbClr val="F8FAFC"/>
                </a:solidFill>
              </a:defRPr>
            </a:pPr>
            <a:r>
              <a:t>Seed: [b"node", owner_pubkey.as_ref()]. Mathematically impossible for third parties to seize custody.</a:t>
            </a:r>
          </a:p>
          <a:p>
            <a:pPr>
              <a:defRPr sz="1100" b="1">
                <a:solidFill>
                  <a:srgbClr val="34D399"/>
                </a:solidFill>
              </a:defRPr>
            </a:pPr>
            <a:r>
              <a:t>Strict Role Segregation</a:t>
            </a:r>
          </a:p>
          <a:p>
            <a:pPr>
              <a:defRPr sz="950">
                <a:solidFill>
                  <a:srgbClr val="F8FAFC"/>
                </a:solidFill>
              </a:defRPr>
            </a:pPr>
            <a:r>
              <a:t>• Owner Authority: Modifies mandates, updates operator, invokes emergency_withdraw.</a:t>
            </a:r>
            <a:br/>
            <a:r>
              <a:t>• Operator Authority: Restricted to metabolize_yield only with valid Ed25519 proof.</a:t>
            </a:r>
          </a:p>
          <a:p>
            <a:pPr>
              <a:defRPr sz="1100" b="1">
                <a:solidFill>
                  <a:srgbClr val="34D399"/>
                </a:solidFill>
              </a:defRPr>
            </a:pPr>
            <a:r>
              <a:t>Confirmed On-Chain Instruction</a:t>
            </a:r>
          </a:p>
          <a:p>
            <a:pPr>
              <a:defRPr sz="950">
                <a:solidFill>
                  <a:srgbClr val="34D399"/>
                </a:solidFill>
              </a:defRPr>
            </a:pPr>
            <a:r>
              <a:t>metabolize_yield atomically splits fees and compounds yield directly into user vaults.</a:t>
            </a:r>
          </a:p>
        </p:txBody>
      </p:sp>
      <p:sp>
        <p:nvSpPr>
          <p:cNvPr id="7" name="Rounded Rectangle 6"/>
          <p:cNvSpPr/>
          <p:nvPr/>
        </p:nvSpPr>
        <p:spPr>
          <a:xfrm>
            <a:off x="6217920" y="1737360"/>
            <a:ext cx="5242255" cy="4389120"/>
          </a:xfrm>
          <a:prstGeom prst="roundRect">
            <a:avLst/>
          </a:prstGeom>
          <a:solidFill>
            <a:srgbClr val="161F3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8BDF8"/>
                </a:solidFill>
              </a:defRPr>
            </a:pPr>
            <a:r>
              <a:t>🌐 Dual-Network Epistemic Topology</a:t>
            </a:r>
          </a:p>
          <a:p>
            <a:pPr>
              <a:defRPr sz="1100" b="1">
                <a:solidFill>
                  <a:srgbClr val="38BDF8"/>
                </a:solidFill>
              </a:defRPr>
            </a:pPr>
            <a:r>
              <a:t>Solana Mainnet (Read-Only Truth)</a:t>
            </a:r>
          </a:p>
          <a:p>
            <a:pPr>
              <a:defRPr sz="950">
                <a:solidFill>
                  <a:srgbClr val="F8FAFC"/>
                </a:solidFill>
              </a:defRPr>
            </a:pPr>
            <a:r>
              <a:t>• Real-time WebSocket connection to Pyth Network Price Feed 922 (AAPLx equity &amp; token feeds).</a:t>
            </a:r>
            <a:br/>
            <a:r>
              <a:t>• Continuous polling of Jupiter v6 DEX Aggregator quotes for implied price benchmarking.</a:t>
            </a:r>
          </a:p>
          <a:p>
            <a:pPr>
              <a:defRPr sz="1100" b="1">
                <a:solidFill>
                  <a:srgbClr val="38BDF8"/>
                </a:solidFill>
              </a:defRPr>
            </a:pPr>
            <a:r>
              <a:t>Solana Devnet (Execution Sandbox)</a:t>
            </a:r>
          </a:p>
          <a:p>
            <a:pPr>
              <a:defRPr sz="950">
                <a:solidFill>
                  <a:srgbClr val="F8FAFC"/>
                </a:solidFill>
              </a:defRPr>
            </a:pPr>
            <a:r>
              <a:t>• Full Anchor program state machine, PDA custody isolation, and yield compounding.</a:t>
            </a:r>
            <a:br/>
            <a:r>
              <a:t>• Zero simulated mocks: 100% genuine cryptographic signatures and instruction processing.</a:t>
            </a:r>
          </a:p>
          <a:p>
            <a:pPr>
              <a:defRPr sz="1100" b="1">
                <a:solidFill>
                  <a:srgbClr val="38BDF8"/>
                </a:solidFill>
              </a:defRPr>
            </a:pPr>
            <a:r>
              <a:t>Why this architecture wins</a:t>
            </a:r>
          </a:p>
          <a:p>
            <a:pPr>
              <a:defRPr sz="950">
                <a:solidFill>
                  <a:srgbClr val="F59E0B"/>
                </a:solidFill>
              </a:defRPr>
            </a:pPr>
            <a:r>
              <a:t>Guarantees production-grade oracle realism without risking unhedged treasury funds prior to formal security audits.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5943600" cy="329184"/>
          </a:xfrm>
          <a:prstGeom prst="roundRect">
            <a:avLst/>
          </a:prstGeom>
          <a:solidFill>
            <a:srgbClr val="161F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38BDF8"/>
                </a:solidFill>
              </a:defRPr>
            </a:pPr>
            <a:r>
              <a:t>🌐 MULTILATERAL MARKET REACH · FIVE SYNERGISTIC CUSTOMER VERTICALS</a:t>
            </a:r>
          </a:p>
        </p:txBody>
      </p:sp>
      <p:sp>
        <p:nvSpPr>
          <p:cNvPr id="4" name="TextBox 3"/>
          <p:cNvSpPr txBox="1"/>
          <p:nvPr/>
        </p:nvSpPr>
        <p:spPr>
          <a:xfrm>
            <a:off x="731520" y="749808"/>
            <a:ext cx="10728655" cy="868680"/>
          </a:xfrm>
          <a:prstGeom prst="rect">
            <a:avLst/>
          </a:prstGeom>
          <a:noFill/>
        </p:spPr>
        <p:txBody>
          <a:bodyPr wrap="square">
            <a:spAutoFit/>
          </a:bodyPr>
          <a:lstStyle/>
          <a:p>
            <a:pPr>
              <a:defRPr sz="2200" b="1">
                <a:solidFill>
                  <a:srgbClr val="F8FAFC"/>
                </a:solidFill>
              </a:defRPr>
            </a:pPr>
            <a:r>
              <a:t>📈 The Multilateral B2X TAM ($4.8T Total Convergence)</a:t>
            </a:r>
          </a:p>
          <a:p>
            <a:pPr>
              <a:defRPr sz="1100">
                <a:solidFill>
                  <a:srgbClr val="94A3B8"/>
                </a:solidFill>
              </a:defRPr>
            </a:pPr>
            <a:r>
              <a:t>From retail nest eggs to institutional ETFs and autonomous agent armor</a:t>
            </a:r>
          </a:p>
        </p:txBody>
      </p:sp>
      <p:sp>
        <p:nvSpPr>
          <p:cNvPr id="5" name="TextBox 4"/>
          <p:cNvSpPr txBox="1"/>
          <p:nvPr/>
        </p:nvSpPr>
        <p:spPr>
          <a:xfrm>
            <a:off x="731520" y="6400800"/>
            <a:ext cx="10728655" cy="320040"/>
          </a:xfrm>
          <a:prstGeom prst="rect">
            <a:avLst/>
          </a:prstGeom>
          <a:noFill/>
        </p:spPr>
        <p:txBody>
          <a:bodyPr wrap="none">
            <a:spAutoFit/>
          </a:bodyPr>
          <a:lstStyle/>
          <a:p>
            <a:pPr>
              <a:defRPr sz="850">
                <a:solidFill>
                  <a:srgbClr val="94A3B8"/>
                </a:solidFill>
              </a:defRPr>
            </a:pPr>
            <a:r>
              <a:t>🏛️ ValueCurator · Colosseum Crypto World's Fair 2026 · Program: 6owAcX...MiW5          |          SLIDE 06 / 12</a:t>
            </a:r>
          </a:p>
        </p:txBody>
      </p:sp>
      <p:sp>
        <p:nvSpPr>
          <p:cNvPr id="6" name="Rounded Rectangle 5"/>
          <p:cNvSpPr/>
          <p:nvPr/>
        </p:nvSpPr>
        <p:spPr>
          <a:xfrm>
            <a:off x="731520" y="1737360"/>
            <a:ext cx="2029968" cy="4389120"/>
          </a:xfrm>
          <a:prstGeom prst="roundRect">
            <a:avLst/>
          </a:prstGeom>
          <a:solidFill>
            <a:srgbClr val="161F3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8BDF8"/>
                </a:solidFill>
              </a:defRPr>
            </a:pPr>
            <a:r>
              <a:t>👤 B2C: Personal Micro-Funds</a:t>
            </a:r>
          </a:p>
          <a:p>
            <a:pPr>
              <a:defRPr sz="950">
                <a:solidFill>
                  <a:srgbClr val="F8FAFC"/>
                </a:solidFill>
              </a:defRPr>
            </a:pPr>
            <a:r>
              <a:t>Programmable 'Pé-de-meia'. Self-sovereign inflation hedge with zero bank insolvency risk. Users set risk limits, bots compound yield.</a:t>
            </a:r>
          </a:p>
          <a:p>
            <a:br/>
            <a:pPr>
              <a:defRPr sz="1100" b="1">
                <a:solidFill>
                  <a:srgbClr val="38BDF8"/>
                </a:solidFill>
              </a:defRPr>
            </a:pPr>
            <a:r>
              <a:t>Target SAM:</a:t>
            </a:r>
            <a:br/>
            <a:r>
              <a:t>$180M SAM</a:t>
            </a:r>
          </a:p>
        </p:txBody>
      </p:sp>
      <p:sp>
        <p:nvSpPr>
          <p:cNvPr id="7" name="Rounded Rectangle 6"/>
          <p:cNvSpPr/>
          <p:nvPr/>
        </p:nvSpPr>
        <p:spPr>
          <a:xfrm>
            <a:off x="2903220" y="1737360"/>
            <a:ext cx="2029968" cy="4389120"/>
          </a:xfrm>
          <a:prstGeom prst="roundRect">
            <a:avLst/>
          </a:prstGeom>
          <a:solidFill>
            <a:srgbClr val="161F30"/>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4D399"/>
                </a:solidFill>
              </a:defRPr>
            </a:pPr>
            <a:r>
              <a:t>🏢 B2B: On-Chain Asset Management</a:t>
            </a:r>
          </a:p>
          <a:p>
            <a:pPr>
              <a:defRPr sz="950">
                <a:solidFill>
                  <a:srgbClr val="F8FAFC"/>
                </a:solidFill>
              </a:defRPr>
            </a:pPr>
            <a:r>
              <a:t>Algorithmic ETFs &amp; Investment Clubs displacing expensive 2% fee / 20% carry traditional fund managers with auditable code.</a:t>
            </a:r>
          </a:p>
          <a:p>
            <a:br/>
            <a:pPr>
              <a:defRPr sz="1100" b="1">
                <a:solidFill>
                  <a:srgbClr val="34D399"/>
                </a:solidFill>
              </a:defRPr>
            </a:pPr>
            <a:r>
              <a:t>Target SAM:</a:t>
            </a:r>
            <a:br/>
            <a:r>
              <a:t>$1.2B SAM</a:t>
            </a:r>
          </a:p>
        </p:txBody>
      </p:sp>
      <p:sp>
        <p:nvSpPr>
          <p:cNvPr id="8" name="Rounded Rectangle 7"/>
          <p:cNvSpPr/>
          <p:nvPr/>
        </p:nvSpPr>
        <p:spPr>
          <a:xfrm>
            <a:off x="5074920" y="1737360"/>
            <a:ext cx="2029968" cy="4389120"/>
          </a:xfrm>
          <a:prstGeom prst="roundRect">
            <a:avLst/>
          </a:prstGeom>
          <a:solidFill>
            <a:srgbClr val="161F30"/>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A78BFA"/>
                </a:solidFill>
              </a:defRPr>
            </a:pPr>
            <a:r>
              <a:t>🤖 B2A: Business-to-Agent Armor</a:t>
            </a:r>
          </a:p>
          <a:p>
            <a:pPr>
              <a:defRPr sz="950">
                <a:solidFill>
                  <a:srgbClr val="F8FAFC"/>
                </a:solidFill>
              </a:defRPr>
            </a:pPr>
            <a:r>
              <a:t>The indispensable cryptographic security middleware for non-neurosymbolic AI bots before institutions trust them with capital.</a:t>
            </a:r>
          </a:p>
          <a:p>
            <a:br/>
            <a:pPr>
              <a:defRPr sz="1100" b="1">
                <a:solidFill>
                  <a:srgbClr val="A78BFA"/>
                </a:solidFill>
              </a:defRPr>
            </a:pPr>
            <a:r>
              <a:t>Target SAM:</a:t>
            </a:r>
            <a:br/>
            <a:r>
              <a:t>$450M SAM</a:t>
            </a:r>
          </a:p>
        </p:txBody>
      </p:sp>
      <p:sp>
        <p:nvSpPr>
          <p:cNvPr id="9" name="Rounded Rectangle 8"/>
          <p:cNvSpPr/>
          <p:nvPr/>
        </p:nvSpPr>
        <p:spPr>
          <a:xfrm>
            <a:off x="7246620" y="1737360"/>
            <a:ext cx="2029968" cy="4389120"/>
          </a:xfrm>
          <a:prstGeom prst="roundRect">
            <a:avLst/>
          </a:prstGeom>
          <a:solidFill>
            <a:srgbClr val="161F30"/>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87171"/>
                </a:solidFill>
              </a:defRPr>
            </a:pPr>
            <a:r>
              <a:t>🏛️ B2D: DAO Treasury Defense</a:t>
            </a:r>
          </a:p>
          <a:p>
            <a:pPr>
              <a:defRPr sz="950">
                <a:solidFill>
                  <a:srgbClr val="F8FAFC"/>
                </a:solidFill>
              </a:defRPr>
            </a:pPr>
            <a:r>
              <a:t>Bulletproof governance limits preventing malicious proposals and flash-loan exploits from draining decentralized treasuries.</a:t>
            </a:r>
          </a:p>
          <a:p>
            <a:br/>
            <a:pPr>
              <a:defRPr sz="1100" b="1">
                <a:solidFill>
                  <a:srgbClr val="F87171"/>
                </a:solidFill>
              </a:defRPr>
            </a:pPr>
            <a:r>
              <a:t>Target SAM:</a:t>
            </a:r>
            <a:br/>
            <a:r>
              <a:t>$2.4B SAM</a:t>
            </a:r>
          </a:p>
        </p:txBody>
      </p:sp>
      <p:sp>
        <p:nvSpPr>
          <p:cNvPr id="10" name="Rounded Rectangle 9"/>
          <p:cNvSpPr/>
          <p:nvPr/>
        </p:nvSpPr>
        <p:spPr>
          <a:xfrm>
            <a:off x="9418320" y="1737360"/>
            <a:ext cx="2029968" cy="4389120"/>
          </a:xfrm>
          <a:prstGeom prst="roundRect">
            <a:avLst/>
          </a:prstGeom>
          <a:solidFill>
            <a:srgbClr val="161F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59E0B"/>
                </a:solidFill>
              </a:defRPr>
            </a:pPr>
            <a:r>
              <a:t>💳 B2B2C: White-Label Neobanks</a:t>
            </a:r>
          </a:p>
          <a:p>
            <a:pPr>
              <a:defRPr sz="950">
                <a:solidFill>
                  <a:srgbClr val="F8FAFC"/>
                </a:solidFill>
              </a:defRPr>
            </a:pPr>
            <a:r>
              <a:t>Embedded sovereign yield curation APIs for neobanks and consumer fintechs seeking automated, compliant DeFi yield.</a:t>
            </a:r>
          </a:p>
          <a:p>
            <a:br/>
            <a:pPr>
              <a:defRPr sz="1100" b="1">
                <a:solidFill>
                  <a:srgbClr val="F59E0B"/>
                </a:solidFill>
              </a:defRPr>
            </a:pPr>
            <a:r>
              <a:t>Target SAM:</a:t>
            </a:r>
            <a:br/>
            <a:r>
              <a:t>$600M SAM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5943600" cy="329184"/>
          </a:xfrm>
          <a:prstGeom prst="roundRect">
            <a:avLst/>
          </a:prstGeom>
          <a:solidFill>
            <a:srgbClr val="161F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38BDF8"/>
                </a:solidFill>
              </a:defRPr>
            </a:pPr>
            <a:r>
              <a:t>🔬 DEEP SCIENTIFIC EDGE · TOPOLOGICAL GNNs &amp; THERMODYNAMIC CONSTRAINTS</a:t>
            </a:r>
          </a:p>
        </p:txBody>
      </p:sp>
      <p:sp>
        <p:nvSpPr>
          <p:cNvPr id="4" name="TextBox 3"/>
          <p:cNvSpPr txBox="1"/>
          <p:nvPr/>
        </p:nvSpPr>
        <p:spPr>
          <a:xfrm>
            <a:off x="731520" y="749808"/>
            <a:ext cx="10728655" cy="868680"/>
          </a:xfrm>
          <a:prstGeom prst="rect">
            <a:avLst/>
          </a:prstGeom>
          <a:noFill/>
        </p:spPr>
        <p:txBody>
          <a:bodyPr wrap="square">
            <a:spAutoFit/>
          </a:bodyPr>
          <a:lstStyle/>
          <a:p>
            <a:pPr>
              <a:defRPr sz="2200" b="1">
                <a:solidFill>
                  <a:srgbClr val="F8FAFC"/>
                </a:solidFill>
              </a:defRPr>
            </a:pPr>
            <a:r>
              <a:t>⚛️ Quantamental Synthesis &amp; Physics-Informed Machine Learning</a:t>
            </a:r>
          </a:p>
          <a:p>
            <a:pPr>
              <a:defRPr sz="1100">
                <a:solidFill>
                  <a:srgbClr val="94A3B8"/>
                </a:solidFill>
              </a:defRPr>
            </a:pPr>
            <a:r>
              <a:t>Modeling decentralized liquidity as an energy-conserving fluid manifold to mathematically eliminate model hallucinations</a:t>
            </a:r>
          </a:p>
        </p:txBody>
      </p:sp>
      <p:sp>
        <p:nvSpPr>
          <p:cNvPr id="5" name="TextBox 4"/>
          <p:cNvSpPr txBox="1"/>
          <p:nvPr/>
        </p:nvSpPr>
        <p:spPr>
          <a:xfrm>
            <a:off x="731520" y="6400800"/>
            <a:ext cx="10728655" cy="320040"/>
          </a:xfrm>
          <a:prstGeom prst="rect">
            <a:avLst/>
          </a:prstGeom>
          <a:noFill/>
        </p:spPr>
        <p:txBody>
          <a:bodyPr wrap="none">
            <a:spAutoFit/>
          </a:bodyPr>
          <a:lstStyle/>
          <a:p>
            <a:pPr>
              <a:defRPr sz="850">
                <a:solidFill>
                  <a:srgbClr val="94A3B8"/>
                </a:solidFill>
              </a:defRPr>
            </a:pPr>
            <a:r>
              <a:t>🏛️ ValueCurator · Colosseum Crypto World's Fair 2026 · Program: 6owAcX...MiW5          |          SLIDE 07 / 12</a:t>
            </a:r>
          </a:p>
        </p:txBody>
      </p:sp>
      <p:sp>
        <p:nvSpPr>
          <p:cNvPr id="6" name="Rounded Rectangle 5"/>
          <p:cNvSpPr/>
          <p:nvPr/>
        </p:nvSpPr>
        <p:spPr>
          <a:xfrm>
            <a:off x="731520" y="1737360"/>
            <a:ext cx="5212080" cy="4389120"/>
          </a:xfrm>
          <a:prstGeom prst="roundRect">
            <a:avLst/>
          </a:prstGeom>
          <a:solidFill>
            <a:srgbClr val="161F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59E0B"/>
                </a:solidFill>
              </a:defRPr>
            </a:pPr>
            <a:r>
              <a:t>📊 Beyond Technical vs. Fundamental Analysis</a:t>
            </a:r>
          </a:p>
          <a:p>
            <a:pPr>
              <a:defRPr sz="1050">
                <a:solidFill>
                  <a:srgbClr val="F8FAFC"/>
                </a:solidFill>
              </a:defRPr>
            </a:pPr>
            <a:r>
              <a:t>• Traditional Technical Analysis: Relies on backward-looking chart patterns and moving averages. Highly susceptible to noise and manipulation.</a:t>
            </a:r>
          </a:p>
          <a:p>
            <a:pPr>
              <a:defRPr sz="1050">
                <a:solidFill>
                  <a:srgbClr val="94A3B8"/>
                </a:solidFill>
              </a:defRPr>
            </a:pPr>
            <a:r>
              <a:t>• Traditional Fundamental Analysis: Relies on slow quarterly filings. Incapable of reacting to microsecond liquidity shocks in crypto.</a:t>
            </a:r>
          </a:p>
          <a:p>
            <a:pPr>
              <a:defRPr sz="1050" b="1">
                <a:solidFill>
                  <a:srgbClr val="F59E0B"/>
                </a:solidFill>
              </a:defRPr>
            </a:pPr>
            <a:r>
              <a:t>• The ValueCurator Quantamental Synthesis: Unifies real-time microstructural order-book dynamics (Jupiter) with macroeconomic cash-flow proofs (Pyth Network).</a:t>
            </a:r>
          </a:p>
        </p:txBody>
      </p:sp>
      <p:sp>
        <p:nvSpPr>
          <p:cNvPr id="7" name="Rounded Rectangle 6"/>
          <p:cNvSpPr/>
          <p:nvPr/>
        </p:nvSpPr>
        <p:spPr>
          <a:xfrm>
            <a:off x="6217920" y="1737360"/>
            <a:ext cx="5242255" cy="4389120"/>
          </a:xfrm>
          <a:prstGeom prst="roundRect">
            <a:avLst/>
          </a:prstGeom>
          <a:solidFill>
            <a:srgbClr val="161F3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8BDF8"/>
                </a:solidFill>
              </a:defRPr>
            </a:pPr>
            <a:r>
              <a:t>⚛️ PIML on Graph Neural Networks (GNNs)</a:t>
            </a:r>
          </a:p>
          <a:p>
            <a:pPr>
              <a:defRPr sz="1050">
                <a:solidFill>
                  <a:srgbClr val="F8FAFC"/>
                </a:solidFill>
              </a:defRPr>
            </a:pPr>
            <a:r>
              <a:t>• Fluid Manifold Modeling: Liquidity across 40+ Solana pools is modeled as an energy-conserving topological fluid.</a:t>
            </a:r>
          </a:p>
          <a:p>
            <a:pPr>
              <a:defRPr sz="1050" b="1">
                <a:solidFill>
                  <a:srgbClr val="38BDF8"/>
                </a:solidFill>
              </a:defRPr>
            </a:pPr>
            <a:r>
              <a:t>• Thermodynamic Loss Function:</a:t>
            </a:r>
            <a:br/>
            <a:r>
              <a:t>  L_total = L_MSE + γ · ‖∇ · J_capital - ∂_t ρ_liquidity‖²</a:t>
            </a:r>
          </a:p>
          <a:p>
            <a:pPr>
              <a:defRPr sz="1050">
                <a:solidFill>
                  <a:srgbClr val="34D399"/>
                </a:solidFill>
              </a:defRPr>
            </a:pPr>
            <a:r>
              <a:t>• Elimination of Hallucinations: By embedding physical no-arbitrage invariants directly into the neural weights, the AI model cannot hallucinate non-existent liquidity.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5943600" cy="329184"/>
          </a:xfrm>
          <a:prstGeom prst="roundRect">
            <a:avLst/>
          </a:prstGeom>
          <a:solidFill>
            <a:srgbClr val="161F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38BDF8"/>
                </a:solidFill>
              </a:defRPr>
            </a:pPr>
            <a:r>
              <a:t>💰 MONETIZATION ENGINE · DUAL HIGH-MARGIN PROTOCOL REVENUE</a:t>
            </a:r>
          </a:p>
        </p:txBody>
      </p:sp>
      <p:sp>
        <p:nvSpPr>
          <p:cNvPr id="4" name="TextBox 3"/>
          <p:cNvSpPr txBox="1"/>
          <p:nvPr/>
        </p:nvSpPr>
        <p:spPr>
          <a:xfrm>
            <a:off x="731520" y="749808"/>
            <a:ext cx="10728655" cy="868680"/>
          </a:xfrm>
          <a:prstGeom prst="rect">
            <a:avLst/>
          </a:prstGeom>
          <a:noFill/>
        </p:spPr>
        <p:txBody>
          <a:bodyPr wrap="square">
            <a:spAutoFit/>
          </a:bodyPr>
          <a:lstStyle/>
          <a:p>
            <a:pPr>
              <a:defRPr sz="2200" b="1">
                <a:solidFill>
                  <a:srgbClr val="F8FAFC"/>
                </a:solidFill>
              </a:defRPr>
            </a:pPr>
            <a:r>
              <a:t>💵 Predictable Utility SaaS + On-Chain Yield Spread</a:t>
            </a:r>
          </a:p>
          <a:p>
            <a:pPr>
              <a:defRPr sz="1100">
                <a:solidFill>
                  <a:srgbClr val="94A3B8"/>
                </a:solidFill>
              </a:defRPr>
            </a:pPr>
            <a:r>
              <a:t>Pure infrastructure utility monetization with negative churn driven by automated compounding</a:t>
            </a:r>
          </a:p>
        </p:txBody>
      </p:sp>
      <p:sp>
        <p:nvSpPr>
          <p:cNvPr id="5" name="TextBox 4"/>
          <p:cNvSpPr txBox="1"/>
          <p:nvPr/>
        </p:nvSpPr>
        <p:spPr>
          <a:xfrm>
            <a:off x="731520" y="6400800"/>
            <a:ext cx="10728655" cy="320040"/>
          </a:xfrm>
          <a:prstGeom prst="rect">
            <a:avLst/>
          </a:prstGeom>
          <a:noFill/>
        </p:spPr>
        <p:txBody>
          <a:bodyPr wrap="none">
            <a:spAutoFit/>
          </a:bodyPr>
          <a:lstStyle/>
          <a:p>
            <a:pPr>
              <a:defRPr sz="850">
                <a:solidFill>
                  <a:srgbClr val="94A3B8"/>
                </a:solidFill>
              </a:defRPr>
            </a:pPr>
            <a:r>
              <a:t>🏛️ ValueCurator · Colosseum Crypto World's Fair 2026 · Program: 6owAcX...MiW5          |          SLIDE 08 / 12</a:t>
            </a:r>
          </a:p>
        </p:txBody>
      </p:sp>
      <p:sp>
        <p:nvSpPr>
          <p:cNvPr id="6" name="Rounded Rectangle 5"/>
          <p:cNvSpPr/>
          <p:nvPr/>
        </p:nvSpPr>
        <p:spPr>
          <a:xfrm>
            <a:off x="731520" y="1737360"/>
            <a:ext cx="5212080" cy="2103120"/>
          </a:xfrm>
          <a:prstGeom prst="roundRect">
            <a:avLst/>
          </a:prstGeom>
          <a:solidFill>
            <a:srgbClr val="161F3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8BDF8"/>
                </a:solidFill>
              </a:defRPr>
            </a:pPr>
            <a:r>
              <a:t>💵 Engine 1: Flat Node Utility SaaS</a:t>
            </a:r>
          </a:p>
          <a:p>
            <a:pPr>
              <a:defRPr sz="1050">
                <a:solidFill>
                  <a:srgbClr val="F8FAFC"/>
                </a:solidFill>
              </a:defRPr>
            </a:pPr>
            <a:r>
              <a:t>• $1.00 USDC / Node / Month flat protocol subscription.</a:t>
            </a:r>
            <a:br/>
            <a:r>
              <a:t>• Predictable recurring ARR scaling linearly with active vault nodes.</a:t>
            </a:r>
          </a:p>
        </p:txBody>
      </p:sp>
      <p:sp>
        <p:nvSpPr>
          <p:cNvPr id="7" name="Rounded Rectangle 6"/>
          <p:cNvSpPr/>
          <p:nvPr/>
        </p:nvSpPr>
        <p:spPr>
          <a:xfrm>
            <a:off x="731520" y="4023360"/>
            <a:ext cx="5212080" cy="2103120"/>
          </a:xfrm>
          <a:prstGeom prst="roundRect">
            <a:avLst/>
          </a:prstGeom>
          <a:solidFill>
            <a:srgbClr val="161F30"/>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4D399"/>
                </a:solidFill>
              </a:defRPr>
            </a:pPr>
            <a:r>
              <a:t>📈 Engine 2: On-Chain Yield Spread</a:t>
            </a:r>
          </a:p>
          <a:p>
            <a:pPr>
              <a:defRPr sz="1050">
                <a:solidFill>
                  <a:srgbClr val="F8FAFC"/>
                </a:solidFill>
              </a:defRPr>
            </a:pPr>
            <a:r>
              <a:t>• 10 to 25 basis points performance fee on metabolized yield volume.</a:t>
            </a:r>
            <a:br/>
            <a:r>
              <a:t>• Automatically routed in Anchor metabolize_yield instruction. Zero manual invoicing.</a:t>
            </a:r>
          </a:p>
        </p:txBody>
      </p:sp>
      <p:sp>
        <p:nvSpPr>
          <p:cNvPr id="8" name="Rounded Rectangle 7"/>
          <p:cNvSpPr/>
          <p:nvPr/>
        </p:nvSpPr>
        <p:spPr>
          <a:xfrm>
            <a:off x="6217920" y="1737360"/>
            <a:ext cx="5242255" cy="4389120"/>
          </a:xfrm>
          <a:prstGeom prst="roundRect">
            <a:avLst/>
          </a:prstGeom>
          <a:solidFill>
            <a:srgbClr val="161F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59E0B"/>
                </a:solidFill>
              </a:defRPr>
            </a:pPr>
            <a:r>
              <a:t>📊 3-Year Unit Economics &amp; Growth Projections</a:t>
            </a:r>
          </a:p>
        </p:txBody>
      </p:sp>
      <p:graphicFrame>
        <p:nvGraphicFramePr>
          <p:cNvPr id="9" name="Table 8"/>
          <p:cNvGraphicFramePr>
            <a:graphicFrameLocks noGrp="1"/>
          </p:cNvGraphicFramePr>
          <p:nvPr/>
        </p:nvGraphicFramePr>
        <p:xfrm>
          <a:off x="6400800" y="2377440"/>
          <a:ext cx="4876495" cy="3474720"/>
        </p:xfrm>
        <a:graphic>
          <a:graphicData uri="http://schemas.openxmlformats.org/drawingml/2006/table">
            <a:tbl>
              <a:tblPr firstRow="1" bandRow="1">
                <a:tableStyleId>{5C22544A-7EE6-4342-B048-85BDC9FD1C3A}</a:tableStyleId>
              </a:tblPr>
              <a:tblGrid>
                <a:gridCol w="1920240"/>
                <a:gridCol w="960120"/>
                <a:gridCol w="960120"/>
                <a:gridCol w="1036015"/>
              </a:tblGrid>
              <a:tr h="694944">
                <a:tc>
                  <a:txBody>
                    <a:bodyPr/>
                    <a:lstStyle/>
                    <a:p>
                      <a:pPr>
                        <a:defRPr sz="1000" b="1">
                          <a:solidFill>
                            <a:srgbClr val="F59E0B"/>
                          </a:solidFill>
                        </a:defRPr>
                      </a:pPr>
                      <a:r>
                        <a:t>Metric</a:t>
                      </a:r>
                    </a:p>
                  </a:txBody>
                  <a:tcPr>
                    <a:solidFill>
                      <a:srgbClr val="101622"/>
                    </a:solidFill>
                  </a:tcPr>
                </a:tc>
                <a:tc>
                  <a:txBody>
                    <a:bodyPr/>
                    <a:lstStyle/>
                    <a:p>
                      <a:pPr>
                        <a:defRPr sz="1000" b="1">
                          <a:solidFill>
                            <a:srgbClr val="F59E0B"/>
                          </a:solidFill>
                        </a:defRPr>
                      </a:pPr>
                      <a:r>
                        <a:t>Year 1</a:t>
                      </a:r>
                    </a:p>
                  </a:txBody>
                  <a:tcPr>
                    <a:solidFill>
                      <a:srgbClr val="101622"/>
                    </a:solidFill>
                  </a:tcPr>
                </a:tc>
                <a:tc>
                  <a:txBody>
                    <a:bodyPr/>
                    <a:lstStyle/>
                    <a:p>
                      <a:pPr>
                        <a:defRPr sz="1000" b="1">
                          <a:solidFill>
                            <a:srgbClr val="F59E0B"/>
                          </a:solidFill>
                        </a:defRPr>
                      </a:pPr>
                      <a:r>
                        <a:t>Year 2</a:t>
                      </a:r>
                    </a:p>
                  </a:txBody>
                  <a:tcPr>
                    <a:solidFill>
                      <a:srgbClr val="101622"/>
                    </a:solidFill>
                  </a:tcPr>
                </a:tc>
                <a:tc>
                  <a:txBody>
                    <a:bodyPr/>
                    <a:lstStyle/>
                    <a:p>
                      <a:pPr>
                        <a:defRPr sz="1000" b="1">
                          <a:solidFill>
                            <a:srgbClr val="F59E0B"/>
                          </a:solidFill>
                        </a:defRPr>
                      </a:pPr>
                      <a:r>
                        <a:t>Year 3</a:t>
                      </a:r>
                    </a:p>
                  </a:txBody>
                  <a:tcPr>
                    <a:solidFill>
                      <a:srgbClr val="101622"/>
                    </a:solidFill>
                  </a:tcPr>
                </a:tc>
              </a:tr>
              <a:tr h="694944">
                <a:tc>
                  <a:txBody>
                    <a:bodyPr/>
                    <a:lstStyle/>
                    <a:p>
                      <a:pPr>
                        <a:defRPr sz="950">
                          <a:solidFill>
                            <a:srgbClr val="F8FAFC"/>
                          </a:solidFill>
                        </a:defRPr>
                      </a:pPr>
                      <a:r>
                        <a:t>Active Nodes</a:t>
                      </a:r>
                    </a:p>
                  </a:txBody>
                  <a:tcPr>
                    <a:solidFill>
                      <a:srgbClr val="161F30"/>
                    </a:solidFill>
                  </a:tcPr>
                </a:tc>
                <a:tc>
                  <a:txBody>
                    <a:bodyPr/>
                    <a:lstStyle/>
                    <a:p>
                      <a:pPr>
                        <a:defRPr sz="950">
                          <a:solidFill>
                            <a:srgbClr val="F8FAFC"/>
                          </a:solidFill>
                        </a:defRPr>
                      </a:pPr>
                      <a:r>
                        <a:t>2,500</a:t>
                      </a:r>
                    </a:p>
                  </a:txBody>
                  <a:tcPr>
                    <a:solidFill>
                      <a:srgbClr val="161F30"/>
                    </a:solidFill>
                  </a:tcPr>
                </a:tc>
                <a:tc>
                  <a:txBody>
                    <a:bodyPr/>
                    <a:lstStyle/>
                    <a:p>
                      <a:pPr>
                        <a:defRPr sz="950">
                          <a:solidFill>
                            <a:srgbClr val="F8FAFC"/>
                          </a:solidFill>
                        </a:defRPr>
                      </a:pPr>
                      <a:r>
                        <a:t>25,000</a:t>
                      </a:r>
                    </a:p>
                  </a:txBody>
                  <a:tcPr>
                    <a:solidFill>
                      <a:srgbClr val="161F30"/>
                    </a:solidFill>
                  </a:tcPr>
                </a:tc>
                <a:tc>
                  <a:txBody>
                    <a:bodyPr/>
                    <a:lstStyle/>
                    <a:p>
                      <a:pPr>
                        <a:defRPr sz="950">
                          <a:solidFill>
                            <a:srgbClr val="F8FAFC"/>
                          </a:solidFill>
                        </a:defRPr>
                      </a:pPr>
                      <a:r>
                        <a:t>150,000</a:t>
                      </a:r>
                    </a:p>
                  </a:txBody>
                  <a:tcPr>
                    <a:solidFill>
                      <a:srgbClr val="161F30"/>
                    </a:solidFill>
                  </a:tcPr>
                </a:tc>
              </a:tr>
              <a:tr h="694944">
                <a:tc>
                  <a:txBody>
                    <a:bodyPr/>
                    <a:lstStyle/>
                    <a:p>
                      <a:pPr>
                        <a:defRPr sz="950">
                          <a:solidFill>
                            <a:srgbClr val="F8FAFC"/>
                          </a:solidFill>
                        </a:defRPr>
                      </a:pPr>
                      <a:r>
                        <a:t>TVG (Assets)</a:t>
                      </a:r>
                    </a:p>
                  </a:txBody>
                  <a:tcPr>
                    <a:solidFill>
                      <a:srgbClr val="161F30"/>
                    </a:solidFill>
                  </a:tcPr>
                </a:tc>
                <a:tc>
                  <a:txBody>
                    <a:bodyPr/>
                    <a:lstStyle/>
                    <a:p>
                      <a:pPr>
                        <a:defRPr sz="950">
                          <a:solidFill>
                            <a:srgbClr val="F8FAFC"/>
                          </a:solidFill>
                        </a:defRPr>
                      </a:pPr>
                      <a:r>
                        <a:t>$12.5M</a:t>
                      </a:r>
                    </a:p>
                  </a:txBody>
                  <a:tcPr>
                    <a:solidFill>
                      <a:srgbClr val="161F30"/>
                    </a:solidFill>
                  </a:tcPr>
                </a:tc>
                <a:tc>
                  <a:txBody>
                    <a:bodyPr/>
                    <a:lstStyle/>
                    <a:p>
                      <a:pPr>
                        <a:defRPr sz="950">
                          <a:solidFill>
                            <a:srgbClr val="F8FAFC"/>
                          </a:solidFill>
                        </a:defRPr>
                      </a:pPr>
                      <a:r>
                        <a:t>$150.0M</a:t>
                      </a:r>
                    </a:p>
                  </a:txBody>
                  <a:tcPr>
                    <a:solidFill>
                      <a:srgbClr val="161F30"/>
                    </a:solidFill>
                  </a:tcPr>
                </a:tc>
                <a:tc>
                  <a:txBody>
                    <a:bodyPr/>
                    <a:lstStyle/>
                    <a:p>
                      <a:pPr>
                        <a:defRPr sz="950">
                          <a:solidFill>
                            <a:srgbClr val="F8FAFC"/>
                          </a:solidFill>
                        </a:defRPr>
                      </a:pPr>
                      <a:r>
                        <a:t>$1.20B</a:t>
                      </a:r>
                    </a:p>
                  </a:txBody>
                  <a:tcPr>
                    <a:solidFill>
                      <a:srgbClr val="161F30"/>
                    </a:solidFill>
                  </a:tcPr>
                </a:tc>
              </a:tr>
              <a:tr h="694944">
                <a:tc>
                  <a:txBody>
                    <a:bodyPr/>
                    <a:lstStyle/>
                    <a:p>
                      <a:pPr>
                        <a:defRPr sz="950">
                          <a:solidFill>
                            <a:srgbClr val="F8FAFC"/>
                          </a:solidFill>
                        </a:defRPr>
                      </a:pPr>
                      <a:r>
                        <a:t>Annual Revenue</a:t>
                      </a:r>
                    </a:p>
                  </a:txBody>
                  <a:tcPr>
                    <a:solidFill>
                      <a:srgbClr val="161F30"/>
                    </a:solidFill>
                  </a:tcPr>
                </a:tc>
                <a:tc>
                  <a:txBody>
                    <a:bodyPr/>
                    <a:lstStyle/>
                    <a:p>
                      <a:pPr>
                        <a:defRPr sz="950">
                          <a:solidFill>
                            <a:srgbClr val="F8FAFC"/>
                          </a:solidFill>
                        </a:defRPr>
                      </a:pPr>
                      <a:r>
                        <a:t>$75,000</a:t>
                      </a:r>
                    </a:p>
                  </a:txBody>
                  <a:tcPr>
                    <a:solidFill>
                      <a:srgbClr val="161F30"/>
                    </a:solidFill>
                  </a:tcPr>
                </a:tc>
                <a:tc>
                  <a:txBody>
                    <a:bodyPr/>
                    <a:lstStyle/>
                    <a:p>
                      <a:pPr>
                        <a:defRPr sz="950">
                          <a:solidFill>
                            <a:srgbClr val="F8FAFC"/>
                          </a:solidFill>
                        </a:defRPr>
                      </a:pPr>
                      <a:r>
                        <a:t>$975,000</a:t>
                      </a:r>
                    </a:p>
                  </a:txBody>
                  <a:tcPr>
                    <a:solidFill>
                      <a:srgbClr val="161F30"/>
                    </a:solidFill>
                  </a:tcPr>
                </a:tc>
                <a:tc>
                  <a:txBody>
                    <a:bodyPr/>
                    <a:lstStyle/>
                    <a:p>
                      <a:pPr>
                        <a:defRPr sz="950">
                          <a:solidFill>
                            <a:srgbClr val="F8FAFC"/>
                          </a:solidFill>
                        </a:defRPr>
                      </a:pPr>
                      <a:r>
                        <a:t>$9,000,000</a:t>
                      </a:r>
                    </a:p>
                  </a:txBody>
                  <a:tcPr>
                    <a:solidFill>
                      <a:srgbClr val="161F30"/>
                    </a:solidFill>
                  </a:tcPr>
                </a:tc>
              </a:tr>
              <a:tr h="694944">
                <a:tc>
                  <a:txBody>
                    <a:bodyPr/>
                    <a:lstStyle/>
                    <a:p>
                      <a:pPr>
                        <a:defRPr sz="950">
                          <a:solidFill>
                            <a:srgbClr val="F8FAFC"/>
                          </a:solidFill>
                        </a:defRPr>
                      </a:pPr>
                      <a:r>
                        <a:t>LTV / CAC Ratio</a:t>
                      </a:r>
                    </a:p>
                  </a:txBody>
                  <a:tcPr>
                    <a:solidFill>
                      <a:srgbClr val="161F30"/>
                    </a:solidFill>
                  </a:tcPr>
                </a:tc>
                <a:tc>
                  <a:txBody>
                    <a:bodyPr/>
                    <a:lstStyle/>
                    <a:p>
                      <a:pPr>
                        <a:defRPr sz="950">
                          <a:solidFill>
                            <a:srgbClr val="F8FAFC"/>
                          </a:solidFill>
                        </a:defRPr>
                      </a:pPr>
                      <a:r>
                        <a:t>7.8x</a:t>
                      </a:r>
                    </a:p>
                  </a:txBody>
                  <a:tcPr>
                    <a:solidFill>
                      <a:srgbClr val="161F30"/>
                    </a:solidFill>
                  </a:tcPr>
                </a:tc>
                <a:tc>
                  <a:txBody>
                    <a:bodyPr/>
                    <a:lstStyle/>
                    <a:p>
                      <a:pPr>
                        <a:defRPr sz="950">
                          <a:solidFill>
                            <a:srgbClr val="F8FAFC"/>
                          </a:solidFill>
                        </a:defRPr>
                      </a:pPr>
                      <a:r>
                        <a:t>23.3x</a:t>
                      </a:r>
                    </a:p>
                  </a:txBody>
                  <a:tcPr>
                    <a:solidFill>
                      <a:srgbClr val="161F30"/>
                    </a:solidFill>
                  </a:tcPr>
                </a:tc>
                <a:tc>
                  <a:txBody>
                    <a:bodyPr/>
                    <a:lstStyle/>
                    <a:p>
                      <a:pPr>
                        <a:defRPr sz="950">
                          <a:solidFill>
                            <a:srgbClr val="F8FAFC"/>
                          </a:solidFill>
                        </a:defRPr>
                      </a:pPr>
                      <a:r>
                        <a:t>51.2x</a:t>
                      </a:r>
                    </a:p>
                  </a:txBody>
                  <a:tcPr>
                    <a:solidFill>
                      <a:srgbClr val="161F30"/>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5943600" cy="329184"/>
          </a:xfrm>
          <a:prstGeom prst="roundRect">
            <a:avLst/>
          </a:prstGeom>
          <a:solidFill>
            <a:srgbClr val="161F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38BDF8"/>
                </a:solidFill>
              </a:defRPr>
            </a:pPr>
            <a:r>
              <a:t>🔍 EPISTEMIC HONESTY · 100% PASSING AUTOMATED TESTS &amp; DEPLOYED CODE</a:t>
            </a:r>
          </a:p>
        </p:txBody>
      </p:sp>
      <p:sp>
        <p:nvSpPr>
          <p:cNvPr id="4" name="TextBox 3"/>
          <p:cNvSpPr txBox="1"/>
          <p:nvPr/>
        </p:nvSpPr>
        <p:spPr>
          <a:xfrm>
            <a:off x="731520" y="749808"/>
            <a:ext cx="10728655" cy="868680"/>
          </a:xfrm>
          <a:prstGeom prst="rect">
            <a:avLst/>
          </a:prstGeom>
          <a:noFill/>
        </p:spPr>
        <p:txBody>
          <a:bodyPr wrap="square">
            <a:spAutoFit/>
          </a:bodyPr>
          <a:lstStyle/>
          <a:p>
            <a:pPr>
              <a:defRPr sz="2200" b="1">
                <a:solidFill>
                  <a:srgbClr val="F8FAFC"/>
                </a:solidFill>
              </a:defRPr>
            </a:pPr>
            <a:r>
              <a:t>✅ Live Code, 100% Passing E2E Tests &amp; Verified Traction</a:t>
            </a:r>
          </a:p>
          <a:p>
            <a:pPr>
              <a:defRPr sz="1100">
                <a:solidFill>
                  <a:srgbClr val="94A3B8"/>
                </a:solidFill>
              </a:defRPr>
            </a:pPr>
            <a:r>
              <a:t>Everything in ValueCurator is inspectable on-chain and reproducible via automated test suites</a:t>
            </a:r>
          </a:p>
        </p:txBody>
      </p:sp>
      <p:sp>
        <p:nvSpPr>
          <p:cNvPr id="5" name="TextBox 4"/>
          <p:cNvSpPr txBox="1"/>
          <p:nvPr/>
        </p:nvSpPr>
        <p:spPr>
          <a:xfrm>
            <a:off x="731520" y="6400800"/>
            <a:ext cx="10728655" cy="320040"/>
          </a:xfrm>
          <a:prstGeom prst="rect">
            <a:avLst/>
          </a:prstGeom>
          <a:noFill/>
        </p:spPr>
        <p:txBody>
          <a:bodyPr wrap="none">
            <a:spAutoFit/>
          </a:bodyPr>
          <a:lstStyle/>
          <a:p>
            <a:pPr>
              <a:defRPr sz="850">
                <a:solidFill>
                  <a:srgbClr val="94A3B8"/>
                </a:solidFill>
              </a:defRPr>
            </a:pPr>
            <a:r>
              <a:t>🏛️ ValueCurator · Colosseum Crypto World's Fair 2026 · Program: 6owAcX...MiW5          |          SLIDE 09 / 12</a:t>
            </a:r>
          </a:p>
        </p:txBody>
      </p:sp>
      <p:sp>
        <p:nvSpPr>
          <p:cNvPr id="6" name="Rounded Rectangle 5"/>
          <p:cNvSpPr/>
          <p:nvPr/>
        </p:nvSpPr>
        <p:spPr>
          <a:xfrm>
            <a:off x="731520" y="1737360"/>
            <a:ext cx="5212080" cy="4389120"/>
          </a:xfrm>
          <a:prstGeom prst="roundRect">
            <a:avLst/>
          </a:prstGeom>
          <a:solidFill>
            <a:srgbClr val="161F30"/>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4D399"/>
                </a:solidFill>
              </a:defRPr>
            </a:pPr>
            <a:r>
              <a:t>📋 Verified Hackathon Milestones</a:t>
            </a:r>
          </a:p>
          <a:p>
            <a:pPr>
              <a:defRPr sz="1100" b="1">
                <a:solidFill>
                  <a:srgbClr val="34D399"/>
                </a:solidFill>
              </a:defRPr>
            </a:pPr>
            <a:r>
              <a:t>• Anchor Contract Live on Devnet</a:t>
            </a:r>
          </a:p>
          <a:p>
            <a:pPr>
              <a:defRPr sz="950">
                <a:solidFill>
                  <a:srgbClr val="F8FAFC"/>
                </a:solidFill>
              </a:defRPr>
            </a:pPr>
            <a:r>
              <a:t>  Program ID: 6owAcXQjGg6d5p1n2D5gK8mKkG9uH9sE1kL2mP3rMiW5. Full instruction suite implemented.</a:t>
            </a:r>
          </a:p>
          <a:p>
            <a:pPr>
              <a:defRPr sz="1100" b="1">
                <a:solidFill>
                  <a:srgbClr val="34D399"/>
                </a:solidFill>
              </a:defRPr>
            </a:pPr>
            <a:r>
              <a:t>• Real-Time Pyth Feed 922</a:t>
            </a:r>
          </a:p>
          <a:p>
            <a:pPr>
              <a:defRPr sz="950">
                <a:solidFill>
                  <a:srgbClr val="F8FAFC"/>
                </a:solidFill>
              </a:defRPr>
            </a:pPr>
            <a:r>
              <a:t>  Pulls live tokenized equities pricing from Solana Mainnet into verification engine.</a:t>
            </a:r>
          </a:p>
          <a:p>
            <a:pPr>
              <a:defRPr sz="1100" b="1">
                <a:solidFill>
                  <a:srgbClr val="34D399"/>
                </a:solidFill>
              </a:defRPr>
            </a:pPr>
            <a:r>
              <a:t>• Production Frontend Live</a:t>
            </a:r>
          </a:p>
          <a:p>
            <a:pPr>
              <a:defRPr sz="950">
                <a:solidFill>
                  <a:srgbClr val="F8FAFC"/>
                </a:solidFill>
              </a:defRPr>
            </a:pPr>
            <a:r>
              <a:t>  Hosted and operational at https://www.valuecurator.xyz with Phantom &amp; Solflare support.</a:t>
            </a:r>
          </a:p>
          <a:p>
            <a:pPr>
              <a:defRPr sz="1100" b="1">
                <a:solidFill>
                  <a:srgbClr val="34D399"/>
                </a:solidFill>
              </a:defRPr>
            </a:pPr>
            <a:r>
              <a:t>• 50+ Hackathon Commits</a:t>
            </a:r>
          </a:p>
          <a:p>
            <a:pPr>
              <a:defRPr sz="950">
                <a:solidFill>
                  <a:srgbClr val="F8FAFC"/>
                </a:solidFill>
              </a:defRPr>
            </a:pPr>
            <a:r>
              <a:t>  Public commit history in smp-sandramariapereira/valuecurator throughout the official window.</a:t>
            </a:r>
          </a:p>
        </p:txBody>
      </p:sp>
      <p:sp>
        <p:nvSpPr>
          <p:cNvPr id="7" name="Rounded Rectangle 6"/>
          <p:cNvSpPr/>
          <p:nvPr/>
        </p:nvSpPr>
        <p:spPr>
          <a:xfrm>
            <a:off x="6217920" y="1737360"/>
            <a:ext cx="5242255" cy="4389120"/>
          </a:xfrm>
          <a:prstGeom prst="roundRect">
            <a:avLst/>
          </a:prstGeom>
          <a:solidFill>
            <a:srgbClr val="161F3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8BDF8"/>
                </a:solidFill>
              </a:defRPr>
            </a:pPr>
            <a:r>
              <a:t>📸 Playwright E2E Test Suite (24/24 Steps PASS)</a:t>
            </a:r>
          </a:p>
          <a:p>
            <a:pPr>
              <a:defRPr sz="1100" b="1">
                <a:solidFill>
                  <a:srgbClr val="38BDF8"/>
                </a:solidFill>
              </a:defRPr>
            </a:pPr>
            <a:r>
              <a:t>✓ Stale Oracle Rejection</a:t>
            </a:r>
          </a:p>
          <a:p>
            <a:pPr>
              <a:defRPr sz="950">
                <a:solidFill>
                  <a:srgbClr val="F8FAFC"/>
                </a:solidFill>
              </a:defRPr>
            </a:pPr>
            <a:r>
              <a:t>  PASS: Blocked at age &gt; 300s. Zero gas leaked.</a:t>
            </a:r>
          </a:p>
          <a:p>
            <a:pPr>
              <a:defRPr sz="1100" b="1">
                <a:solidFill>
                  <a:srgbClr val="38BDF8"/>
                </a:solidFill>
              </a:defRPr>
            </a:pPr>
            <a:r>
              <a:t>✓ Price Divergence Blockage</a:t>
            </a:r>
          </a:p>
          <a:p>
            <a:pPr>
              <a:defRPr sz="950">
                <a:solidFill>
                  <a:srgbClr val="F8FAFC"/>
                </a:solidFill>
              </a:defRPr>
            </a:pPr>
            <a:r>
              <a:t>  PASS: Blocked when DEX implied price exceeds 20% deviation.</a:t>
            </a:r>
          </a:p>
          <a:p>
            <a:pPr>
              <a:defRPr sz="1100" b="1">
                <a:solidFill>
                  <a:srgbClr val="38BDF8"/>
                </a:solidFill>
              </a:defRPr>
            </a:pPr>
            <a:r>
              <a:t>✓ Ed25519 Receipt Generation</a:t>
            </a:r>
          </a:p>
          <a:p>
            <a:pPr>
              <a:defRPr sz="950">
                <a:solidFill>
                  <a:srgbClr val="F8FAFC"/>
                </a:solidFill>
              </a:defRPr>
            </a:pPr>
            <a:r>
              <a:t>  PASS: Valid cryptographic signature produced on safe intent.</a:t>
            </a:r>
          </a:p>
          <a:p>
            <a:pPr>
              <a:defRPr sz="1100" b="1">
                <a:solidFill>
                  <a:srgbClr val="38BDF8"/>
                </a:solidFill>
              </a:defRPr>
            </a:pPr>
            <a:r>
              <a:t>✓ Anchor Yield Metabolism</a:t>
            </a:r>
          </a:p>
          <a:p>
            <a:pPr>
              <a:defRPr sz="950">
                <a:solidFill>
                  <a:srgbClr val="F8FAFC"/>
                </a:solidFill>
              </a:defRPr>
            </a:pPr>
            <a:r>
              <a:t>  PASS: Confirmed Devnet transaction with automated fee split.</a:t>
            </a:r>
          </a:p>
          <a:p>
            <a:pPr>
              <a:defRPr sz="1100" b="1">
                <a:solidFill>
                  <a:srgbClr val="38BDF8"/>
                </a:solidFill>
              </a:defRPr>
            </a:pPr>
            <a:r>
              <a:t>✓ Emergency Withdraw Override</a:t>
            </a:r>
          </a:p>
          <a:p>
            <a:pPr>
              <a:defRPr sz="950">
                <a:solidFill>
                  <a:srgbClr val="F8FAFC"/>
                </a:solidFill>
              </a:defRPr>
            </a:pPr>
            <a:r>
              <a:t>  PASS: Only Owner authority permitted to withdraw.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5943600" cy="329184"/>
          </a:xfrm>
          <a:prstGeom prst="roundRect">
            <a:avLst/>
          </a:prstGeom>
          <a:solidFill>
            <a:srgbClr val="161F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38BDF8"/>
                </a:solidFill>
              </a:defRPr>
            </a:pPr>
            <a:r>
              <a:t>⚔️ COMPETITIVE ADVANTAGE · DEFENSE IN DEPTH &amp; UNFAIR MOATS</a:t>
            </a:r>
          </a:p>
        </p:txBody>
      </p:sp>
      <p:sp>
        <p:nvSpPr>
          <p:cNvPr id="4" name="TextBox 3"/>
          <p:cNvSpPr txBox="1"/>
          <p:nvPr/>
        </p:nvSpPr>
        <p:spPr>
          <a:xfrm>
            <a:off x="731520" y="749808"/>
            <a:ext cx="10728655" cy="868680"/>
          </a:xfrm>
          <a:prstGeom prst="rect">
            <a:avLst/>
          </a:prstGeom>
          <a:noFill/>
        </p:spPr>
        <p:txBody>
          <a:bodyPr wrap="square">
            <a:spAutoFit/>
          </a:bodyPr>
          <a:lstStyle/>
          <a:p>
            <a:pPr>
              <a:defRPr sz="2200" b="1">
                <a:solidFill>
                  <a:srgbClr val="F8FAFC"/>
                </a:solidFill>
              </a:defRPr>
            </a:pPr>
            <a:r>
              <a:t>🛡️ The Neurosymbolic Moat: ValueCurator vs. Alternatives</a:t>
            </a:r>
          </a:p>
          <a:p>
            <a:pPr>
              <a:defRPr sz="1100">
                <a:solidFill>
                  <a:srgbClr val="94A3B8"/>
                </a:solidFill>
              </a:defRPr>
            </a:pPr>
            <a:r>
              <a:t>Why raw trading bots, prompt engineering, and multi-sigs fail to solve autonomous capital governance</a:t>
            </a:r>
          </a:p>
        </p:txBody>
      </p:sp>
      <p:sp>
        <p:nvSpPr>
          <p:cNvPr id="5" name="TextBox 4"/>
          <p:cNvSpPr txBox="1"/>
          <p:nvPr/>
        </p:nvSpPr>
        <p:spPr>
          <a:xfrm>
            <a:off x="731520" y="6400800"/>
            <a:ext cx="10728655" cy="320040"/>
          </a:xfrm>
          <a:prstGeom prst="rect">
            <a:avLst/>
          </a:prstGeom>
          <a:noFill/>
        </p:spPr>
        <p:txBody>
          <a:bodyPr wrap="none">
            <a:spAutoFit/>
          </a:bodyPr>
          <a:lstStyle/>
          <a:p>
            <a:pPr>
              <a:defRPr sz="850">
                <a:solidFill>
                  <a:srgbClr val="94A3B8"/>
                </a:solidFill>
              </a:defRPr>
            </a:pPr>
            <a:r>
              <a:t>🏛️ ValueCurator · Colosseum Crypto World's Fair 2026 · Program: 6owAcX...MiW5          |          SLIDE 10 / 12</a:t>
            </a:r>
          </a:p>
        </p:txBody>
      </p:sp>
      <p:graphicFrame>
        <p:nvGraphicFramePr>
          <p:cNvPr id="6" name="Table 5"/>
          <p:cNvGraphicFramePr>
            <a:graphicFrameLocks noGrp="1"/>
          </p:cNvGraphicFramePr>
          <p:nvPr/>
        </p:nvGraphicFramePr>
        <p:xfrm>
          <a:off x="731520" y="1828800"/>
          <a:ext cx="10716764" cy="4297680"/>
        </p:xfrm>
        <a:graphic>
          <a:graphicData uri="http://schemas.openxmlformats.org/drawingml/2006/table">
            <a:tbl>
              <a:tblPr firstRow="1" bandRow="1">
                <a:tableStyleId>{5C22544A-7EE6-4342-B048-85BDC9FD1C3A}</a:tableStyleId>
              </a:tblPr>
              <a:tblGrid>
                <a:gridCol w="2377440"/>
                <a:gridCol w="2084831"/>
                <a:gridCol w="2084831"/>
                <a:gridCol w="2084831"/>
                <a:gridCol w="2084831"/>
              </a:tblGrid>
              <a:tr h="716280">
                <a:tc>
                  <a:txBody>
                    <a:bodyPr/>
                    <a:lstStyle/>
                    <a:p>
                      <a:pPr>
                        <a:defRPr sz="1050" b="1">
                          <a:solidFill>
                            <a:srgbClr val="F59E0B"/>
                          </a:solidFill>
                        </a:defRPr>
                      </a:pPr>
                      <a:r>
                        <a:t>Capability</a:t>
                      </a:r>
                    </a:p>
                  </a:txBody>
                  <a:tcPr>
                    <a:solidFill>
                      <a:srgbClr val="101622"/>
                    </a:solidFill>
                  </a:tcPr>
                </a:tc>
                <a:tc>
                  <a:txBody>
                    <a:bodyPr/>
                    <a:lstStyle/>
                    <a:p>
                      <a:pPr>
                        <a:defRPr sz="1050" b="1">
                          <a:solidFill>
                            <a:srgbClr val="F59E0B"/>
                          </a:solidFill>
                        </a:defRPr>
                      </a:pPr>
                      <a:r>
                        <a:t>Raw AI Bots (Eliza)</a:t>
                      </a:r>
                    </a:p>
                  </a:txBody>
                  <a:tcPr>
                    <a:solidFill>
                      <a:srgbClr val="101622"/>
                    </a:solidFill>
                  </a:tcPr>
                </a:tc>
                <a:tc>
                  <a:txBody>
                    <a:bodyPr/>
                    <a:lstStyle/>
                    <a:p>
                      <a:pPr>
                        <a:defRPr sz="1050" b="1">
                          <a:solidFill>
                            <a:srgbClr val="F59E0B"/>
                          </a:solidFill>
                        </a:defRPr>
                      </a:pPr>
                      <a:r>
                        <a:t>Squads Multi-Sig</a:t>
                      </a:r>
                    </a:p>
                  </a:txBody>
                  <a:tcPr>
                    <a:solidFill>
                      <a:srgbClr val="101622"/>
                    </a:solidFill>
                  </a:tcPr>
                </a:tc>
                <a:tc>
                  <a:txBody>
                    <a:bodyPr/>
                    <a:lstStyle/>
                    <a:p>
                      <a:pPr>
                        <a:defRPr sz="1050" b="1">
                          <a:solidFill>
                            <a:srgbClr val="F59E0B"/>
                          </a:solidFill>
                        </a:defRPr>
                      </a:pPr>
                      <a:r>
                        <a:t>Traditional Funds</a:t>
                      </a:r>
                    </a:p>
                  </a:txBody>
                  <a:tcPr>
                    <a:solidFill>
                      <a:srgbClr val="101622"/>
                    </a:solidFill>
                  </a:tcPr>
                </a:tc>
                <a:tc>
                  <a:txBody>
                    <a:bodyPr/>
                    <a:lstStyle/>
                    <a:p>
                      <a:pPr>
                        <a:defRPr sz="1050" b="1">
                          <a:solidFill>
                            <a:srgbClr val="0B0F19"/>
                          </a:solidFill>
                        </a:defRPr>
                      </a:pPr>
                      <a:r>
                        <a:t>ValueCurator</a:t>
                      </a:r>
                    </a:p>
                  </a:txBody>
                  <a:tcPr>
                    <a:solidFill>
                      <a:srgbClr val="34D399"/>
                    </a:solidFill>
                  </a:tcPr>
                </a:tc>
              </a:tr>
              <a:tr h="716280">
                <a:tc>
                  <a:txBody>
                    <a:bodyPr/>
                    <a:lstStyle/>
                    <a:p>
                      <a:pPr>
                        <a:defRPr sz="950">
                          <a:solidFill>
                            <a:srgbClr val="F8FAFC"/>
                          </a:solidFill>
                        </a:defRPr>
                      </a:pPr>
                      <a:r>
                        <a:t>Execution Speed</a:t>
                      </a:r>
                    </a:p>
                  </a:txBody>
                  <a:tcPr>
                    <a:solidFill>
                      <a:srgbClr val="161F30"/>
                    </a:solidFill>
                  </a:tcPr>
                </a:tc>
                <a:tc>
                  <a:txBody>
                    <a:bodyPr/>
                    <a:lstStyle/>
                    <a:p>
                      <a:pPr>
                        <a:defRPr sz="950">
                          <a:solidFill>
                            <a:srgbClr val="F8FAFC"/>
                          </a:solidFill>
                        </a:defRPr>
                      </a:pPr>
                      <a:r>
                        <a:t>Sub-second</a:t>
                      </a:r>
                    </a:p>
                  </a:txBody>
                  <a:tcPr>
                    <a:solidFill>
                      <a:srgbClr val="161F30"/>
                    </a:solidFill>
                  </a:tcPr>
                </a:tc>
                <a:tc>
                  <a:txBody>
                    <a:bodyPr/>
                    <a:lstStyle/>
                    <a:p>
                      <a:pPr>
                        <a:defRPr sz="950">
                          <a:solidFill>
                            <a:srgbClr val="F8FAFC"/>
                          </a:solidFill>
                        </a:defRPr>
                      </a:pPr>
                      <a:r>
                        <a:t>Hours / Days (Manual)</a:t>
                      </a:r>
                    </a:p>
                  </a:txBody>
                  <a:tcPr>
                    <a:solidFill>
                      <a:srgbClr val="161F30"/>
                    </a:solidFill>
                  </a:tcPr>
                </a:tc>
                <a:tc>
                  <a:txBody>
                    <a:bodyPr/>
                    <a:lstStyle/>
                    <a:p>
                      <a:pPr>
                        <a:defRPr sz="950">
                          <a:solidFill>
                            <a:srgbClr val="F8FAFC"/>
                          </a:solidFill>
                        </a:defRPr>
                      </a:pPr>
                      <a:r>
                        <a:t>Weeks (Paper)</a:t>
                      </a:r>
                    </a:p>
                  </a:txBody>
                  <a:tcPr>
                    <a:solidFill>
                      <a:srgbClr val="161F30"/>
                    </a:solidFill>
                  </a:tcPr>
                </a:tc>
                <a:tc>
                  <a:txBody>
                    <a:bodyPr/>
                    <a:lstStyle/>
                    <a:p>
                      <a:pPr>
                        <a:defRPr sz="950" b="1">
                          <a:solidFill>
                            <a:srgbClr val="34D399"/>
                          </a:solidFill>
                        </a:defRPr>
                      </a:pPr>
                      <a:r>
                        <a:t>Instant &amp; Autonomous</a:t>
                      </a:r>
                    </a:p>
                  </a:txBody>
                  <a:tcPr>
                    <a:solidFill>
                      <a:srgbClr val="102D22"/>
                    </a:solidFill>
                  </a:tcPr>
                </a:tc>
              </a:tr>
              <a:tr h="716280">
                <a:tc>
                  <a:txBody>
                    <a:bodyPr/>
                    <a:lstStyle/>
                    <a:p>
                      <a:pPr>
                        <a:defRPr sz="950">
                          <a:solidFill>
                            <a:srgbClr val="F8FAFC"/>
                          </a:solidFill>
                        </a:defRPr>
                      </a:pPr>
                      <a:r>
                        <a:t>Custody Risk</a:t>
                      </a:r>
                    </a:p>
                  </a:txBody>
                  <a:tcPr>
                    <a:solidFill>
                      <a:srgbClr val="161F30"/>
                    </a:solidFill>
                  </a:tcPr>
                </a:tc>
                <a:tc>
                  <a:txBody>
                    <a:bodyPr/>
                    <a:lstStyle/>
                    <a:p>
                      <a:pPr>
                        <a:defRPr sz="950">
                          <a:solidFill>
                            <a:srgbClr val="F8FAFC"/>
                          </a:solidFill>
                        </a:defRPr>
                      </a:pPr>
                      <a:r>
                        <a:t>Fatal (Raw Keys)</a:t>
                      </a:r>
                    </a:p>
                  </a:txBody>
                  <a:tcPr>
                    <a:solidFill>
                      <a:srgbClr val="161F30"/>
                    </a:solidFill>
                  </a:tcPr>
                </a:tc>
                <a:tc>
                  <a:txBody>
                    <a:bodyPr/>
                    <a:lstStyle/>
                    <a:p>
                      <a:pPr>
                        <a:defRPr sz="950">
                          <a:solidFill>
                            <a:srgbClr val="F8FAFC"/>
                          </a:solidFill>
                        </a:defRPr>
                      </a:pPr>
                      <a:r>
                        <a:t>Safe (M-of-N)</a:t>
                      </a:r>
                    </a:p>
                  </a:txBody>
                  <a:tcPr>
                    <a:solidFill>
                      <a:srgbClr val="161F30"/>
                    </a:solidFill>
                  </a:tcPr>
                </a:tc>
                <a:tc>
                  <a:txBody>
                    <a:bodyPr/>
                    <a:lstStyle/>
                    <a:p>
                      <a:pPr>
                        <a:defRPr sz="950">
                          <a:solidFill>
                            <a:srgbClr val="F8FAFC"/>
                          </a:solidFill>
                        </a:defRPr>
                      </a:pPr>
                      <a:r>
                        <a:t>Opaque Counterparty</a:t>
                      </a:r>
                    </a:p>
                  </a:txBody>
                  <a:tcPr>
                    <a:solidFill>
                      <a:srgbClr val="161F30"/>
                    </a:solidFill>
                  </a:tcPr>
                </a:tc>
                <a:tc>
                  <a:txBody>
                    <a:bodyPr/>
                    <a:lstStyle/>
                    <a:p>
                      <a:pPr>
                        <a:defRPr sz="950" b="1">
                          <a:solidFill>
                            <a:srgbClr val="34D399"/>
                          </a:solidFill>
                        </a:defRPr>
                      </a:pPr>
                      <a:r>
                        <a:t>Sovereign PDA Vault</a:t>
                      </a:r>
                    </a:p>
                  </a:txBody>
                  <a:tcPr>
                    <a:solidFill>
                      <a:srgbClr val="102D22"/>
                    </a:solidFill>
                  </a:tcPr>
                </a:tc>
              </a:tr>
              <a:tr h="716280">
                <a:tc>
                  <a:txBody>
                    <a:bodyPr/>
                    <a:lstStyle/>
                    <a:p>
                      <a:pPr>
                        <a:defRPr sz="950">
                          <a:solidFill>
                            <a:srgbClr val="F8FAFC"/>
                          </a:solidFill>
                        </a:defRPr>
                      </a:pPr>
                      <a:r>
                        <a:t>Oracle Verification</a:t>
                      </a:r>
                    </a:p>
                  </a:txBody>
                  <a:tcPr>
                    <a:solidFill>
                      <a:srgbClr val="161F30"/>
                    </a:solidFill>
                  </a:tcPr>
                </a:tc>
                <a:tc>
                  <a:txBody>
                    <a:bodyPr/>
                    <a:lstStyle/>
                    <a:p>
                      <a:pPr>
                        <a:defRPr sz="950">
                          <a:solidFill>
                            <a:srgbClr val="F8FAFC"/>
                          </a:solidFill>
                        </a:defRPr>
                      </a:pPr>
                      <a:r>
                        <a:t>None or Basic</a:t>
                      </a:r>
                    </a:p>
                  </a:txBody>
                  <a:tcPr>
                    <a:solidFill>
                      <a:srgbClr val="161F30"/>
                    </a:solidFill>
                  </a:tcPr>
                </a:tc>
                <a:tc>
                  <a:txBody>
                    <a:bodyPr/>
                    <a:lstStyle/>
                    <a:p>
                      <a:pPr>
                        <a:defRPr sz="950">
                          <a:solidFill>
                            <a:srgbClr val="F8FAFC"/>
                          </a:solidFill>
                        </a:defRPr>
                      </a:pPr>
                      <a:r>
                        <a:t>None</a:t>
                      </a:r>
                    </a:p>
                  </a:txBody>
                  <a:tcPr>
                    <a:solidFill>
                      <a:srgbClr val="161F30"/>
                    </a:solidFill>
                  </a:tcPr>
                </a:tc>
                <a:tc>
                  <a:txBody>
                    <a:bodyPr/>
                    <a:lstStyle/>
                    <a:p>
                      <a:pPr>
                        <a:defRPr sz="950">
                          <a:solidFill>
                            <a:srgbClr val="F8FAFC"/>
                          </a:solidFill>
                        </a:defRPr>
                      </a:pPr>
                      <a:r>
                        <a:t>None</a:t>
                      </a:r>
                    </a:p>
                  </a:txBody>
                  <a:tcPr>
                    <a:solidFill>
                      <a:srgbClr val="161F30"/>
                    </a:solidFill>
                  </a:tcPr>
                </a:tc>
                <a:tc>
                  <a:txBody>
                    <a:bodyPr/>
                    <a:lstStyle/>
                    <a:p>
                      <a:pPr>
                        <a:defRPr sz="950" b="1">
                          <a:solidFill>
                            <a:srgbClr val="34D399"/>
                          </a:solidFill>
                        </a:defRPr>
                      </a:pPr>
                      <a:r>
                        <a:t>Pyth 922 + Jupiter</a:t>
                      </a:r>
                    </a:p>
                  </a:txBody>
                  <a:tcPr>
                    <a:solidFill>
                      <a:srgbClr val="102D22"/>
                    </a:solidFill>
                  </a:tcPr>
                </a:tc>
              </a:tr>
              <a:tr h="716280">
                <a:tc>
                  <a:txBody>
                    <a:bodyPr/>
                    <a:lstStyle/>
                    <a:p>
                      <a:pPr>
                        <a:defRPr sz="950">
                          <a:solidFill>
                            <a:srgbClr val="F8FAFC"/>
                          </a:solidFill>
                        </a:defRPr>
                      </a:pPr>
                      <a:r>
                        <a:t>Fail-Closed Safety</a:t>
                      </a:r>
                    </a:p>
                  </a:txBody>
                  <a:tcPr>
                    <a:solidFill>
                      <a:srgbClr val="161F30"/>
                    </a:solidFill>
                  </a:tcPr>
                </a:tc>
                <a:tc>
                  <a:txBody>
                    <a:bodyPr/>
                    <a:lstStyle/>
                    <a:p>
                      <a:pPr>
                        <a:defRPr sz="950">
                          <a:solidFill>
                            <a:srgbClr val="F8FAFC"/>
                          </a:solidFill>
                        </a:defRPr>
                      </a:pPr>
                      <a:r>
                        <a:t>No (Trades on error)</a:t>
                      </a:r>
                    </a:p>
                  </a:txBody>
                  <a:tcPr>
                    <a:solidFill>
                      <a:srgbClr val="161F30"/>
                    </a:solidFill>
                  </a:tcPr>
                </a:tc>
                <a:tc>
                  <a:txBody>
                    <a:bodyPr/>
                    <a:lstStyle/>
                    <a:p>
                      <a:pPr>
                        <a:defRPr sz="950">
                          <a:solidFill>
                            <a:srgbClr val="F8FAFC"/>
                          </a:solidFill>
                        </a:defRPr>
                      </a:pPr>
                      <a:r>
                        <a:t>N/A</a:t>
                      </a:r>
                    </a:p>
                  </a:txBody>
                  <a:tcPr>
                    <a:solidFill>
                      <a:srgbClr val="161F30"/>
                    </a:solidFill>
                  </a:tcPr>
                </a:tc>
                <a:tc>
                  <a:txBody>
                    <a:bodyPr/>
                    <a:lstStyle/>
                    <a:p>
                      <a:pPr>
                        <a:defRPr sz="950">
                          <a:solidFill>
                            <a:srgbClr val="F8FAFC"/>
                          </a:solidFill>
                        </a:defRPr>
                      </a:pPr>
                      <a:r>
                        <a:t>N/A</a:t>
                      </a:r>
                    </a:p>
                  </a:txBody>
                  <a:tcPr>
                    <a:solidFill>
                      <a:srgbClr val="161F30"/>
                    </a:solidFill>
                  </a:tcPr>
                </a:tc>
                <a:tc>
                  <a:txBody>
                    <a:bodyPr/>
                    <a:lstStyle/>
                    <a:p>
                      <a:pPr>
                        <a:defRPr sz="950" b="1">
                          <a:solidFill>
                            <a:srgbClr val="34D399"/>
                          </a:solidFill>
                        </a:defRPr>
                      </a:pPr>
                      <a:r>
                        <a:t>Strict ⋀ C_k Rules</a:t>
                      </a:r>
                    </a:p>
                  </a:txBody>
                  <a:tcPr>
                    <a:solidFill>
                      <a:srgbClr val="102D22"/>
                    </a:solidFill>
                  </a:tcPr>
                </a:tc>
              </a:tr>
              <a:tr h="716280">
                <a:tc>
                  <a:txBody>
                    <a:bodyPr/>
                    <a:lstStyle/>
                    <a:p>
                      <a:pPr>
                        <a:defRPr sz="950">
                          <a:solidFill>
                            <a:srgbClr val="F8FAFC"/>
                          </a:solidFill>
                        </a:defRPr>
                      </a:pPr>
                      <a:r>
                        <a:t>Cost Structure</a:t>
                      </a:r>
                    </a:p>
                  </a:txBody>
                  <a:tcPr>
                    <a:solidFill>
                      <a:srgbClr val="161F30"/>
                    </a:solidFill>
                  </a:tcPr>
                </a:tc>
                <a:tc>
                  <a:txBody>
                    <a:bodyPr/>
                    <a:lstStyle/>
                    <a:p>
                      <a:pPr>
                        <a:defRPr sz="950">
                          <a:solidFill>
                            <a:srgbClr val="F8FAFC"/>
                          </a:solidFill>
                        </a:defRPr>
                      </a:pPr>
                      <a:r>
                        <a:t>Uncontrolled</a:t>
                      </a:r>
                    </a:p>
                  </a:txBody>
                  <a:tcPr>
                    <a:solidFill>
                      <a:srgbClr val="161F30"/>
                    </a:solidFill>
                  </a:tcPr>
                </a:tc>
                <a:tc>
                  <a:txBody>
                    <a:bodyPr/>
                    <a:lstStyle/>
                    <a:p>
                      <a:pPr>
                        <a:defRPr sz="950">
                          <a:solidFill>
                            <a:srgbClr val="F8FAFC"/>
                          </a:solidFill>
                        </a:defRPr>
                      </a:pPr>
                      <a:r>
                        <a:t>Tx Fees</a:t>
                      </a:r>
                    </a:p>
                  </a:txBody>
                  <a:tcPr>
                    <a:solidFill>
                      <a:srgbClr val="161F30"/>
                    </a:solidFill>
                  </a:tcPr>
                </a:tc>
                <a:tc>
                  <a:txBody>
                    <a:bodyPr/>
                    <a:lstStyle/>
                    <a:p>
                      <a:pPr>
                        <a:defRPr sz="950">
                          <a:solidFill>
                            <a:srgbClr val="F8FAFC"/>
                          </a:solidFill>
                        </a:defRPr>
                      </a:pPr>
                      <a:r>
                        <a:t>2% Mgmt + 20% Carry</a:t>
                      </a:r>
                    </a:p>
                  </a:txBody>
                  <a:tcPr>
                    <a:solidFill>
                      <a:srgbClr val="161F30"/>
                    </a:solidFill>
                  </a:tcPr>
                </a:tc>
                <a:tc>
                  <a:txBody>
                    <a:bodyPr/>
                    <a:lstStyle/>
                    <a:p>
                      <a:pPr>
                        <a:defRPr sz="950" b="1">
                          <a:solidFill>
                            <a:srgbClr val="34D399"/>
                          </a:solidFill>
                        </a:defRPr>
                      </a:pPr>
                      <a:r>
                        <a:t>$1/Mo + 15 bps Yield</a:t>
                      </a:r>
                    </a:p>
                  </a:txBody>
                  <a:tcPr>
                    <a:solidFill>
                      <a:srgbClr val="102D22"/>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5943600" cy="329184"/>
          </a:xfrm>
          <a:prstGeom prst="roundRect">
            <a:avLst/>
          </a:prstGeom>
          <a:solidFill>
            <a:srgbClr val="161F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38BDF8"/>
                </a:solidFill>
              </a:defRPr>
            </a:pPr>
            <a:r>
              <a:t>🛣️ EXECUTION TIMELINE · 2026 ROADMAP FROM HACKATHON TO STANDARD</a:t>
            </a:r>
          </a:p>
        </p:txBody>
      </p:sp>
      <p:sp>
        <p:nvSpPr>
          <p:cNvPr id="4" name="TextBox 3"/>
          <p:cNvSpPr txBox="1"/>
          <p:nvPr/>
        </p:nvSpPr>
        <p:spPr>
          <a:xfrm>
            <a:off x="731520" y="749808"/>
            <a:ext cx="10728655" cy="868680"/>
          </a:xfrm>
          <a:prstGeom prst="rect">
            <a:avLst/>
          </a:prstGeom>
          <a:noFill/>
        </p:spPr>
        <p:txBody>
          <a:bodyPr wrap="square">
            <a:spAutoFit/>
          </a:bodyPr>
          <a:lstStyle/>
          <a:p>
            <a:pPr>
              <a:defRPr sz="2200" b="1">
                <a:solidFill>
                  <a:srgbClr val="F8FAFC"/>
                </a:solidFill>
              </a:defRPr>
            </a:pPr>
            <a:r>
              <a:t>🚀 Scaled Roadmap: From Colosseum Submission to Mainnet Standard</a:t>
            </a:r>
          </a:p>
          <a:p>
            <a:pPr>
              <a:defRPr sz="1100">
                <a:solidFill>
                  <a:srgbClr val="94A3B8"/>
                </a:solidFill>
              </a:defRPr>
            </a:pPr>
            <a:r>
              <a:t>A disciplined, milestone-driven execution plan to govern $100M+ in assets within 12 months</a:t>
            </a:r>
          </a:p>
        </p:txBody>
      </p:sp>
      <p:sp>
        <p:nvSpPr>
          <p:cNvPr id="5" name="TextBox 4"/>
          <p:cNvSpPr txBox="1"/>
          <p:nvPr/>
        </p:nvSpPr>
        <p:spPr>
          <a:xfrm>
            <a:off x="731520" y="6400800"/>
            <a:ext cx="10728655" cy="320040"/>
          </a:xfrm>
          <a:prstGeom prst="rect">
            <a:avLst/>
          </a:prstGeom>
          <a:noFill/>
        </p:spPr>
        <p:txBody>
          <a:bodyPr wrap="none">
            <a:spAutoFit/>
          </a:bodyPr>
          <a:lstStyle/>
          <a:p>
            <a:pPr>
              <a:defRPr sz="850">
                <a:solidFill>
                  <a:srgbClr val="94A3B8"/>
                </a:solidFill>
              </a:defRPr>
            </a:pPr>
            <a:r>
              <a:t>🏛️ ValueCurator · Colosseum Crypto World's Fair 2026 · Program: 6owAcX...MiW5          |          SLIDE 11 / 12</a:t>
            </a:r>
          </a:p>
        </p:txBody>
      </p:sp>
      <p:sp>
        <p:nvSpPr>
          <p:cNvPr id="6" name="Rounded Rectangle 5"/>
          <p:cNvSpPr/>
          <p:nvPr/>
        </p:nvSpPr>
        <p:spPr>
          <a:xfrm>
            <a:off x="731520" y="1737360"/>
            <a:ext cx="2560320" cy="4389120"/>
          </a:xfrm>
          <a:prstGeom prst="roundRect">
            <a:avLst/>
          </a:prstGeom>
          <a:solidFill>
            <a:srgbClr val="161F30"/>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4D399"/>
                </a:solidFill>
              </a:defRPr>
            </a:pPr>
            <a:r>
              <a:t>Q1 2026 · HACKATHON (ACHIEVED ✅)</a:t>
            </a:r>
          </a:p>
          <a:p>
            <a:pPr>
              <a:defRPr sz="1050">
                <a:solidFill>
                  <a:srgbClr val="F8FAFC"/>
                </a:solidFill>
              </a:defRPr>
            </a:pPr>
            <a:r>
              <a:t>• Anchor Program Deployed on Devnet</a:t>
            </a:r>
            <a:br/>
            <a:r>
              <a:t>• Live Pyth Feed 922 Integration</a:t>
            </a:r>
            <a:br/>
            <a:r>
              <a:t>• Playwright 24-Step Test Suite</a:t>
            </a:r>
            <a:br/>
            <a:r>
              <a:t>• WebApp Live at valuecurator.xyz</a:t>
            </a:r>
          </a:p>
        </p:txBody>
      </p:sp>
      <p:sp>
        <p:nvSpPr>
          <p:cNvPr id="7" name="Rounded Rectangle 6"/>
          <p:cNvSpPr/>
          <p:nvPr/>
        </p:nvSpPr>
        <p:spPr>
          <a:xfrm>
            <a:off x="3453688" y="1737360"/>
            <a:ext cx="2560320" cy="4389120"/>
          </a:xfrm>
          <a:prstGeom prst="roundRect">
            <a:avLst/>
          </a:prstGeom>
          <a:solidFill>
            <a:srgbClr val="161F3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8BDF8"/>
                </a:solidFill>
              </a:defRPr>
            </a:pPr>
            <a:r>
              <a:t>Q2 2026 · ACCELERATOR &amp; AUDIT</a:t>
            </a:r>
          </a:p>
          <a:p>
            <a:pPr>
              <a:defRPr sz="1050">
                <a:solidFill>
                  <a:srgbClr val="F8FAFC"/>
                </a:solidFill>
              </a:defRPr>
            </a:pPr>
            <a:r>
              <a:t>• Colosseum Accelerator Cohort ($250k)</a:t>
            </a:r>
            <a:br/>
            <a:r>
              <a:t>• Tier-1 Security Audit (OtterSec/Neodyme)</a:t>
            </a:r>
            <a:br/>
            <a:r>
              <a:t>• Mainnet Alpha Vault Deployment</a:t>
            </a:r>
            <a:br/>
            <a:r>
              <a:t>• 3 Investment Club Pilots (B2B)</a:t>
            </a:r>
          </a:p>
        </p:txBody>
      </p:sp>
      <p:sp>
        <p:nvSpPr>
          <p:cNvPr id="8" name="Rounded Rectangle 7"/>
          <p:cNvSpPr/>
          <p:nvPr/>
        </p:nvSpPr>
        <p:spPr>
          <a:xfrm>
            <a:off x="6175857" y="1737360"/>
            <a:ext cx="2560320" cy="4389120"/>
          </a:xfrm>
          <a:prstGeom prst="roundRect">
            <a:avLst/>
          </a:prstGeom>
          <a:solidFill>
            <a:srgbClr val="161F30"/>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A78BFA"/>
                </a:solidFill>
              </a:defRPr>
            </a:pPr>
            <a:r>
              <a:t>Q3 2026 · AGENT ARMOR SDK</a:t>
            </a:r>
          </a:p>
          <a:p>
            <a:pPr>
              <a:defRPr sz="1050">
                <a:solidFill>
                  <a:srgbClr val="F8FAFC"/>
                </a:solidFill>
              </a:defRPr>
            </a:pPr>
            <a:r>
              <a:t>• Launch @valuecurator/agent-armor SDK</a:t>
            </a:r>
            <a:br/>
            <a:r>
              <a:t>• B2D DAO Treasury Governance Modules</a:t>
            </a:r>
            <a:br/>
            <a:r>
              <a:t>• Mobile-First Sovereign WebApp</a:t>
            </a:r>
            <a:br/>
            <a:r>
              <a:t>• Top Solana DEX Integrations</a:t>
            </a:r>
          </a:p>
        </p:txBody>
      </p:sp>
      <p:sp>
        <p:nvSpPr>
          <p:cNvPr id="9" name="Rounded Rectangle 8"/>
          <p:cNvSpPr/>
          <p:nvPr/>
        </p:nvSpPr>
        <p:spPr>
          <a:xfrm>
            <a:off x="8898026" y="1737360"/>
            <a:ext cx="2560320" cy="4389120"/>
          </a:xfrm>
          <a:prstGeom prst="roundRect">
            <a:avLst/>
          </a:prstGeom>
          <a:solidFill>
            <a:srgbClr val="161F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59E0B"/>
                </a:solidFill>
              </a:defRPr>
            </a:pPr>
            <a:r>
              <a:t>Q4 2026 · ECOSYSTEM EXPANSION</a:t>
            </a:r>
          </a:p>
          <a:p>
            <a:pPr>
              <a:defRPr sz="1050">
                <a:solidFill>
                  <a:srgbClr val="F8FAFC"/>
                </a:solidFill>
              </a:defRPr>
            </a:pPr>
            <a:r>
              <a:t>• Institutional Neobank B2B2C API</a:t>
            </a:r>
            <a:br/>
            <a:r>
              <a:t>• Cross-Chain Oracles &amp; Settlement</a:t>
            </a:r>
            <a:br/>
            <a:r>
              <a:t>• $100M+ Total Value Governed</a:t>
            </a:r>
            <a:br/>
            <a:r>
              <a:t>• Decentralized Protocol Governance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5943600" cy="329184"/>
          </a:xfrm>
          <a:prstGeom prst="roundRect">
            <a:avLst/>
          </a:prstGeom>
          <a:solidFill>
            <a:srgbClr val="161F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38BDF8"/>
                </a:solidFill>
              </a:defRPr>
            </a:pPr>
            <a:r>
              <a:t>🤝 SEED ROUND · COLOSSEUM ACCELERATOR 2026 COHORT ENTRY</a:t>
            </a:r>
          </a:p>
        </p:txBody>
      </p:sp>
      <p:sp>
        <p:nvSpPr>
          <p:cNvPr id="4" name="TextBox 3"/>
          <p:cNvSpPr txBox="1"/>
          <p:nvPr/>
        </p:nvSpPr>
        <p:spPr>
          <a:xfrm>
            <a:off x="731520" y="749808"/>
            <a:ext cx="10728655" cy="868680"/>
          </a:xfrm>
          <a:prstGeom prst="rect">
            <a:avLst/>
          </a:prstGeom>
          <a:noFill/>
        </p:spPr>
        <p:txBody>
          <a:bodyPr wrap="square">
            <a:spAutoFit/>
          </a:bodyPr>
          <a:lstStyle/>
          <a:p>
            <a:pPr>
              <a:defRPr sz="2200" b="1">
                <a:solidFill>
                  <a:srgbClr val="F8FAFC"/>
                </a:solidFill>
              </a:defRPr>
            </a:pPr>
            <a:r>
              <a:t>👥 Founding Team, Sovereign Vision &amp; The $250K Seed Ask</a:t>
            </a:r>
          </a:p>
          <a:p>
            <a:pPr>
              <a:defRPr sz="1100">
                <a:solidFill>
                  <a:srgbClr val="94A3B8"/>
                </a:solidFill>
              </a:defRPr>
            </a:pPr>
            <a:r>
              <a:t>Sandra Pereira &amp; João Nitsche: Systems Engineering + Epistemic Cybernetics</a:t>
            </a:r>
          </a:p>
        </p:txBody>
      </p:sp>
      <p:sp>
        <p:nvSpPr>
          <p:cNvPr id="5" name="TextBox 4"/>
          <p:cNvSpPr txBox="1"/>
          <p:nvPr/>
        </p:nvSpPr>
        <p:spPr>
          <a:xfrm>
            <a:off x="731520" y="6400800"/>
            <a:ext cx="10728655" cy="320040"/>
          </a:xfrm>
          <a:prstGeom prst="rect">
            <a:avLst/>
          </a:prstGeom>
          <a:noFill/>
        </p:spPr>
        <p:txBody>
          <a:bodyPr wrap="none">
            <a:spAutoFit/>
          </a:bodyPr>
          <a:lstStyle/>
          <a:p>
            <a:pPr>
              <a:defRPr sz="850">
                <a:solidFill>
                  <a:srgbClr val="94A3B8"/>
                </a:solidFill>
              </a:defRPr>
            </a:pPr>
            <a:r>
              <a:t>🏛️ ValueCurator · Colosseum Crypto World's Fair 2026 · Program: 6owAcX...MiW5          |          SLIDE 12 / 12</a:t>
            </a:r>
          </a:p>
        </p:txBody>
      </p:sp>
      <p:sp>
        <p:nvSpPr>
          <p:cNvPr id="6" name="Rounded Rectangle 5"/>
          <p:cNvSpPr/>
          <p:nvPr/>
        </p:nvSpPr>
        <p:spPr>
          <a:xfrm>
            <a:off x="731520" y="1737360"/>
            <a:ext cx="5212080" cy="4389120"/>
          </a:xfrm>
          <a:prstGeom prst="roundRect">
            <a:avLst/>
          </a:prstGeom>
          <a:solidFill>
            <a:srgbClr val="161F3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38BDF8"/>
                </a:solidFill>
              </a:defRPr>
            </a:pPr>
            <a:r>
              <a:t>👥 The Founding Team</a:t>
            </a:r>
          </a:p>
          <a:p>
            <a:pPr>
              <a:defRPr sz="1150" b="1">
                <a:solidFill>
                  <a:srgbClr val="38BDF8"/>
                </a:solidFill>
              </a:defRPr>
            </a:pPr>
            <a:r>
              <a:t>👩‍💻 Sandra Pereira — Co-Founder &amp; Lead Solana Systems Engineer</a:t>
            </a:r>
          </a:p>
          <a:p>
            <a:pPr>
              <a:defRPr sz="950">
                <a:solidFill>
                  <a:srgbClr val="F8FAFC"/>
                </a:solidFill>
              </a:defRPr>
            </a:pPr>
            <a:r>
              <a:t>• Specialized in Solana Anchor program architecture, Program Derived Addresses, cryptographic signers, and resilient smart contract engineering.</a:t>
            </a:r>
            <a:br/>
            <a:r>
              <a:t>• Architect of the ValueCurator PDA vault and yield metabolism instructions.</a:t>
            </a:r>
          </a:p>
          <a:p>
            <a:br/>
            <a:pPr>
              <a:defRPr sz="1150" b="1">
                <a:solidFill>
                  <a:srgbClr val="F59E0B"/>
                </a:solidFill>
              </a:defRPr>
            </a:pPr>
            <a:r>
              <a:t>👨‍💻 João Nitsche — Co-Founder &amp; Epistemic Systems Architect</a:t>
            </a:r>
          </a:p>
          <a:p>
            <a:pPr>
              <a:defRPr sz="950">
                <a:solidFill>
                  <a:srgbClr val="F8FAFC"/>
                </a:solidFill>
              </a:defRPr>
            </a:pPr>
            <a:r>
              <a:t>• Specialized in neurosymbolic control planes, econophysics, quantamental market models, and second-order cybernetic governance.</a:t>
            </a:r>
            <a:br/>
            <a:r>
              <a:t>• Architect of the Deterministic Policy Gate and Pyth Feed 922 evidence verification runtime.</a:t>
            </a:r>
          </a:p>
        </p:txBody>
      </p:sp>
      <p:sp>
        <p:nvSpPr>
          <p:cNvPr id="7" name="Rounded Rectangle 6"/>
          <p:cNvSpPr/>
          <p:nvPr/>
        </p:nvSpPr>
        <p:spPr>
          <a:xfrm>
            <a:off x="6217920" y="1737360"/>
            <a:ext cx="5242255" cy="4389120"/>
          </a:xfrm>
          <a:prstGeom prst="roundRect">
            <a:avLst/>
          </a:prstGeom>
          <a:solidFill>
            <a:srgbClr val="161F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F59E0B"/>
                </a:solidFill>
              </a:defRPr>
            </a:pPr>
            <a:r>
              <a:t>🎯 The Ask: $250,000 Seed Round (Colosseum Accelerator)</a:t>
            </a:r>
          </a:p>
          <a:p>
            <a:pPr>
              <a:defRPr sz="1100" b="1">
                <a:solidFill>
                  <a:srgbClr val="F59E0B"/>
                </a:solidFill>
              </a:defRPr>
            </a:pPr>
            <a:r>
              <a:t>Capital Allocation</a:t>
            </a:r>
          </a:p>
          <a:p>
            <a:pPr>
              <a:defRPr sz="950">
                <a:solidFill>
                  <a:srgbClr val="F8FAFC"/>
                </a:solidFill>
              </a:defRPr>
            </a:pPr>
            <a:r>
              <a:t>• 45% Smart Contract Security Audits (OtterSec / Neodyme)</a:t>
            </a:r>
            <a:br/>
            <a:r>
              <a:t>• 35% Core Engineering &amp; Agent Armor SDKs</a:t>
            </a:r>
            <a:br/>
            <a:r>
              <a:t>• 20% Liquidity Integrations &amp; GTM with Investment Clubs</a:t>
            </a:r>
          </a:p>
          <a:p>
            <a:pPr>
              <a:defRPr sz="1100" b="1">
                <a:solidFill>
                  <a:srgbClr val="F59E0B"/>
                </a:solidFill>
              </a:defRPr>
            </a:pPr>
            <a:r>
              <a:t>Expected 180-Day Deliverables</a:t>
            </a:r>
          </a:p>
          <a:p>
            <a:pPr>
              <a:defRPr sz="950">
                <a:solidFill>
                  <a:srgbClr val="34D399"/>
                </a:solidFill>
              </a:defRPr>
            </a:pPr>
            <a:r>
              <a:t>• Audited Solana Mainnet deployment.</a:t>
            </a:r>
            <a:br/>
            <a:r>
              <a:t>• $25M Total Value Governed across 5,000 active nodes.</a:t>
            </a:r>
            <a:br/>
            <a:r>
              <a:t>• Default fiduciary middleware for autonomous AI agents on Solana.</a:t>
            </a:r>
          </a:p>
          <a:p>
            <a:pPr>
              <a:defRPr sz="1100" b="1">
                <a:solidFill>
                  <a:srgbClr val="F59E0B"/>
                </a:solidFill>
              </a:defRPr>
            </a:pPr>
            <a:r>
              <a:t>Final Sovereign Axiom</a:t>
            </a:r>
          </a:p>
          <a:p>
            <a:pPr>
              <a:defRPr sz="950">
                <a:solidFill>
                  <a:srgbClr val="F59E0B"/>
                </a:solidFill>
              </a:defRPr>
            </a:pPr>
            <a:r>
              <a:t>“AI advises. Evidence proves. Policy authorizes. The owner governs.”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